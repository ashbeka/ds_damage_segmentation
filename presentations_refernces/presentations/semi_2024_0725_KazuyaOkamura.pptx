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6858000" cx="12192000"/>
  <p:notesSz cx="6858000" cy="9144000"/>
  <p:embeddedFontLst>
    <p:embeddedFont>
      <p:font typeface="Quattrocento Sans"/>
      <p:regular r:id="rId20"/>
      <p:bold r:id="rId21"/>
      <p:italic r:id="rId22"/>
      <p:boldItalic r:id="rId23"/>
    </p:embeddedFont>
    <p:embeddedFont>
      <p:font typeface="Inter Medium"/>
      <p:regular r:id="rId24"/>
      <p:bold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6" roundtripDataSignature="AMtx7mjW1xu0qI4NC//mdGo7Gugt6q9uN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CE37F23-0E2B-4CB0-867A-C06D669CA5DC}">
  <a:tblStyle styleId="{2CE37F23-0E2B-4CB0-867A-C06D669CA5DC}" styleName="Table_0">
    <a:wholeTbl>
      <a:tcTxStyle b="off" i="off">
        <a:font>
          <a:latin typeface="Inter Medium"/>
          <a:ea typeface="Inter Medium"/>
          <a:cs typeface="Inter Medium"/>
        </a:font>
        <a:schemeClr val="dk1"/>
      </a:tcTxStyle>
      <a:tcStyle>
        <a:tcBdr>
          <a:left>
            <a:ln cap="flat" cmpd="sng" w="127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chemeClr val="lt1"/>
          </a:solidFill>
        </a:fill>
      </a:tcStyle>
    </a:wholeTbl>
    <a:band1H>
      <a:tcTxStyle/>
      <a:tcStyle>
        <a:fill>
          <a:solidFill>
            <a:srgbClr val="E7E7E7"/>
          </a:solidFill>
        </a:fill>
      </a:tcStyle>
    </a:band1H>
    <a:band2H>
      <a:tcTxStyle/>
    </a:band2H>
    <a:band1V>
      <a:tcTxStyle/>
      <a:tcStyle>
        <a:fill>
          <a:solidFill>
            <a:srgbClr val="E7E7E7"/>
          </a:solidFill>
        </a:fill>
      </a:tcStyle>
    </a:band1V>
    <a:band2V>
      <a:tcTxStyle/>
    </a:band2V>
    <a:lastCol>
      <a:tcTxStyle b="on" i="off"/>
    </a:lastCol>
    <a:firstCol>
      <a:tcTxStyle b="on" i="off"/>
    </a:firstCol>
    <a:lastRow>
      <a:tcTxStyle b="on" i="off"/>
      <a:tcStyle>
        <a:tcBdr>
          <a:top>
            <a:ln cap="flat" cmpd="sng" w="5080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l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Inter Medium"/>
          <a:ea typeface="Inter Medium"/>
          <a:cs typeface="Inter Medium"/>
        </a:font>
        <a:schemeClr val="lt1"/>
      </a:tcTxStyle>
      <a:tcStyle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  <a:tblStyle styleId="{EB12F295-6DEA-4762-83C7-B80509122BB3}" styleName="Table_1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QuattrocentoSans-regular.fntdata"/><Relationship Id="rId22" Type="http://schemas.openxmlformats.org/officeDocument/2006/relationships/font" Target="fonts/QuattrocentoSans-italic.fntdata"/><Relationship Id="rId21" Type="http://schemas.openxmlformats.org/officeDocument/2006/relationships/font" Target="fonts/QuattrocentoSans-bold.fntdata"/><Relationship Id="rId24" Type="http://schemas.openxmlformats.org/officeDocument/2006/relationships/font" Target="fonts/InterMedium-regular.fntdata"/><Relationship Id="rId23" Type="http://schemas.openxmlformats.org/officeDocument/2006/relationships/font" Target="fonts/QuattrocentoSans-boldItalic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customschemas.google.com/relationships/presentationmetadata" Target="metadata"/><Relationship Id="rId25" Type="http://schemas.openxmlformats.org/officeDocument/2006/relationships/font" Target="fonts/InterMedium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" name="Google Shape;51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" name="Google Shape;5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" name="Google Shape;66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" name="Google Shape;95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8" name="Google Shape;138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ランダムサンプリングにより、特徴量を局所的なスケールと大域的なスケールを表すことができる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RTWは、複数のTE特徴の中から、類似度の高い特徴に注目していると解釈でき、自己注意機構と見なすことができる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さらに、部分空間表現は、少量のデータでも安定して生成できる。そのため、サンプルサイズが小さい場合、自己注意機構より優れている</a:t>
            </a:r>
            <a:endParaRPr/>
          </a:p>
        </p:txBody>
      </p:sp>
      <p:sp>
        <p:nvSpPr>
          <p:cNvPr id="139" name="Google Shape;139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6" name="Google Shape;146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2D/3D CNNから抽出され、RTWを通してTE特徴に変換する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そのため、様々なCNNアーキテクチャに適用できる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RTWが自己注意機構と同等かそれ以上の性能を持つ</a:t>
            </a:r>
            <a:endParaRPr/>
          </a:p>
        </p:txBody>
      </p:sp>
      <p:sp>
        <p:nvSpPr>
          <p:cNvPr id="147" name="Google Shape;147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4" name="Google Shape;154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2" name="Google Shape;162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0" name="Google Shape;170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0" name="Google Shape;180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1" name="Google Shape;191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1" name="Google Shape;211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3" name="Google Shape;223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2" name="Google Shape;232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タイトル スライド">
  <p:cSld name="タイトル スライド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accen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indent="0" lvl="1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indent="0" lvl="2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indent="0" lvl="3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indent="0" lvl="4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indent="0" lvl="5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indent="0" lvl="6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indent="0" lvl="7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indent="0" lvl="8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" name="Google Shape;19;p18"/>
          <p:cNvSpPr txBox="1"/>
          <p:nvPr>
            <p:ph type="title"/>
          </p:nvPr>
        </p:nvSpPr>
        <p:spPr>
          <a:xfrm>
            <a:off x="2883877" y="1355189"/>
            <a:ext cx="8698523" cy="21342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Inter Medium"/>
              <a:buNone/>
              <a:defRPr b="1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8"/>
          <p:cNvSpPr txBox="1"/>
          <p:nvPr>
            <p:ph idx="1" type="body"/>
          </p:nvPr>
        </p:nvSpPr>
        <p:spPr>
          <a:xfrm>
            <a:off x="2926701" y="4023460"/>
            <a:ext cx="8655699" cy="161416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descr="背景パターン&#10;&#10;自動的に生成された説明" id="21" name="Google Shape;21;p18"/>
          <p:cNvPicPr preferRelativeResize="0"/>
          <p:nvPr/>
        </p:nvPicPr>
        <p:blipFill rotWithShape="1">
          <a:blip r:embed="rId2">
            <a:alphaModFix/>
          </a:blip>
          <a:srcRect b="0" l="9218" r="72088" t="0"/>
          <a:stretch/>
        </p:blipFill>
        <p:spPr>
          <a:xfrm>
            <a:off x="-1" y="0"/>
            <a:ext cx="2279177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18"/>
          <p:cNvSpPr txBox="1"/>
          <p:nvPr>
            <p:ph idx="2" type="body"/>
          </p:nvPr>
        </p:nvSpPr>
        <p:spPr>
          <a:xfrm>
            <a:off x="2926700" y="879230"/>
            <a:ext cx="8655699" cy="4587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937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600"/>
              <a:buChar char="•"/>
              <a:defRPr b="0">
                <a:solidFill>
                  <a:schemeClr val="dk2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937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  <a:defRPr/>
            </a:lvl4pPr>
            <a:lvl5pPr indent="-3937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タイトルとコンテンツ">
  <p:cSld name="タイトルとコンテンツ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9"/>
          <p:cNvSpPr txBox="1"/>
          <p:nvPr>
            <p:ph type="title"/>
          </p:nvPr>
        </p:nvSpPr>
        <p:spPr>
          <a:xfrm>
            <a:off x="938714" y="327660"/>
            <a:ext cx="11221789" cy="57594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Inter Medium"/>
              <a:buNone/>
              <a:defRPr b="1" sz="32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9"/>
          <p:cNvSpPr txBox="1"/>
          <p:nvPr>
            <p:ph idx="12" type="sldNum"/>
          </p:nvPr>
        </p:nvSpPr>
        <p:spPr>
          <a:xfrm>
            <a:off x="9253181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indent="0" lvl="1" mar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indent="0" lvl="2" mar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indent="0" lvl="3" mar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indent="0" lvl="4" mar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indent="0" lvl="5" mar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indent="0" lvl="6" mar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indent="0" lvl="7" mar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indent="0" lvl="8" mar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28" name="Google Shape;28;p19"/>
          <p:cNvGrpSpPr/>
          <p:nvPr/>
        </p:nvGrpSpPr>
        <p:grpSpPr>
          <a:xfrm>
            <a:off x="510243" y="422910"/>
            <a:ext cx="357728" cy="357728"/>
            <a:chOff x="134325" y="203455"/>
            <a:chExt cx="433025" cy="433025"/>
          </a:xfrm>
        </p:grpSpPr>
        <p:sp>
          <p:nvSpPr>
            <p:cNvPr id="29" name="Google Shape;29;p19"/>
            <p:cNvSpPr/>
            <p:nvPr/>
          </p:nvSpPr>
          <p:spPr>
            <a:xfrm>
              <a:off x="207350" y="276480"/>
              <a:ext cx="360000" cy="360000"/>
            </a:xfrm>
            <a:prstGeom prst="roundRect">
              <a:avLst>
                <a:gd fmla="val 8729" name="adj"/>
              </a:avLst>
            </a:prstGeom>
            <a:solidFill>
              <a:schemeClr val="accent2">
                <a:alpha val="400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30" name="Google Shape;30;p19"/>
            <p:cNvSpPr/>
            <p:nvPr/>
          </p:nvSpPr>
          <p:spPr>
            <a:xfrm>
              <a:off x="134325" y="203455"/>
              <a:ext cx="360000" cy="360000"/>
            </a:xfrm>
            <a:prstGeom prst="roundRect">
              <a:avLst>
                <a:gd fmla="val 8729" name="adj"/>
              </a:avLst>
            </a:prstGeom>
            <a:solidFill>
              <a:schemeClr val="dk2">
                <a:alpha val="6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  <p:sp>
        <p:nvSpPr>
          <p:cNvPr id="31" name="Google Shape;31;p19"/>
          <p:cNvSpPr/>
          <p:nvPr/>
        </p:nvSpPr>
        <p:spPr>
          <a:xfrm>
            <a:off x="0" y="0"/>
            <a:ext cx="108000" cy="6858000"/>
          </a:xfrm>
          <a:prstGeom prst="roundRect">
            <a:avLst>
              <a:gd fmla="val 0" name="adj"/>
            </a:avLst>
          </a:prstGeom>
          <a:gradFill>
            <a:gsLst>
              <a:gs pos="0">
                <a:srgbClr val="E3F6F8">
                  <a:alpha val="69803"/>
                </a:srgbClr>
              </a:gs>
              <a:gs pos="100000">
                <a:srgbClr val="C9EDF1"/>
              </a:gs>
            </a:gsLst>
            <a:lin ang="2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タイトルとコンテンツ">
  <p:cSld name="2_タイトルとコンテンツ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0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fmla="val 0" name="adj"/>
            </a:avLst>
          </a:prstGeom>
          <a:gradFill>
            <a:gsLst>
              <a:gs pos="0">
                <a:srgbClr val="E3F6F8">
                  <a:alpha val="20000"/>
                </a:srgbClr>
              </a:gs>
              <a:gs pos="100000">
                <a:srgbClr val="C9EDF1">
                  <a:alpha val="49803"/>
                </a:srgbClr>
              </a:gs>
            </a:gsLst>
            <a:lin ang="2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34" name="Google Shape;34;p20"/>
          <p:cNvSpPr txBox="1"/>
          <p:nvPr>
            <p:ph type="title"/>
          </p:nvPr>
        </p:nvSpPr>
        <p:spPr>
          <a:xfrm>
            <a:off x="1996440" y="2322219"/>
            <a:ext cx="9483823" cy="64345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Inter Medium"/>
              <a:buNone/>
              <a:defRPr b="1" sz="4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20"/>
          <p:cNvSpPr txBox="1"/>
          <p:nvPr>
            <p:ph idx="12" type="sldNum"/>
          </p:nvPr>
        </p:nvSpPr>
        <p:spPr>
          <a:xfrm>
            <a:off x="9253181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indent="0" lvl="1" mar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indent="0" lvl="2" mar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indent="0" lvl="3" mar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indent="0" lvl="4" mar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indent="0" lvl="5" mar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indent="0" lvl="6" mar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indent="0" lvl="7" mar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indent="0" lvl="8" mar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38" name="Google Shape;38;p20"/>
          <p:cNvGrpSpPr/>
          <p:nvPr/>
        </p:nvGrpSpPr>
        <p:grpSpPr>
          <a:xfrm>
            <a:off x="1138457" y="2276499"/>
            <a:ext cx="643451" cy="643451"/>
            <a:chOff x="134325" y="203455"/>
            <a:chExt cx="433025" cy="433025"/>
          </a:xfrm>
        </p:grpSpPr>
        <p:sp>
          <p:nvSpPr>
            <p:cNvPr id="39" name="Google Shape;39;p20"/>
            <p:cNvSpPr/>
            <p:nvPr/>
          </p:nvSpPr>
          <p:spPr>
            <a:xfrm>
              <a:off x="207350" y="276480"/>
              <a:ext cx="360000" cy="360000"/>
            </a:xfrm>
            <a:prstGeom prst="roundRect">
              <a:avLst>
                <a:gd fmla="val 8729" name="adj"/>
              </a:avLst>
            </a:prstGeom>
            <a:solidFill>
              <a:schemeClr val="accent2">
                <a:alpha val="400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40" name="Google Shape;40;p20"/>
            <p:cNvSpPr/>
            <p:nvPr/>
          </p:nvSpPr>
          <p:spPr>
            <a:xfrm>
              <a:off x="134325" y="203455"/>
              <a:ext cx="360000" cy="360000"/>
            </a:xfrm>
            <a:prstGeom prst="roundRect">
              <a:avLst>
                <a:gd fmla="val 8729" name="adj"/>
              </a:avLst>
            </a:prstGeom>
            <a:solidFill>
              <a:schemeClr val="dk2">
                <a:alpha val="6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  <p:sp>
        <p:nvSpPr>
          <p:cNvPr id="41" name="Google Shape;41;p20"/>
          <p:cNvSpPr txBox="1"/>
          <p:nvPr>
            <p:ph idx="1" type="body"/>
          </p:nvPr>
        </p:nvSpPr>
        <p:spPr>
          <a:xfrm>
            <a:off x="1138457" y="3161884"/>
            <a:ext cx="10341806" cy="14101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3600"/>
              <a:buNone/>
              <a:defRPr sz="3600">
                <a:solidFill>
                  <a:schemeClr val="accent1"/>
                </a:solidFill>
              </a:defRPr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タイトルとコンテンツ">
  <p:cSld name="4_タイトルとコンテンツ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1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fmla="val 0" name="adj"/>
            </a:avLst>
          </a:prstGeom>
          <a:gradFill>
            <a:gsLst>
              <a:gs pos="0">
                <a:srgbClr val="E3F6F8">
                  <a:alpha val="20000"/>
                </a:srgbClr>
              </a:gs>
              <a:gs pos="100000">
                <a:srgbClr val="C9EDF1">
                  <a:alpha val="49803"/>
                </a:srgbClr>
              </a:gs>
            </a:gsLst>
            <a:lin ang="2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44" name="Google Shape;44;p21"/>
          <p:cNvSpPr txBox="1"/>
          <p:nvPr>
            <p:ph type="title"/>
          </p:nvPr>
        </p:nvSpPr>
        <p:spPr>
          <a:xfrm>
            <a:off x="1354088" y="3018784"/>
            <a:ext cx="9483823" cy="64345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Inter Medium"/>
              <a:buNone/>
              <a:defRPr b="1" sz="4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1"/>
          <p:cNvSpPr txBox="1"/>
          <p:nvPr>
            <p:ph idx="12" type="sldNum"/>
          </p:nvPr>
        </p:nvSpPr>
        <p:spPr>
          <a:xfrm>
            <a:off x="9253181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indent="0" lvl="1" mar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indent="0" lvl="2" mar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indent="0" lvl="3" mar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indent="0" lvl="4" mar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indent="0" lvl="5" mar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indent="0" lvl="6" mar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indent="0" lvl="7" mar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indent="0" lvl="8" mar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白紙">
  <p:cSld name="白紙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7"/>
          <p:cNvSpPr txBox="1"/>
          <p:nvPr>
            <p:ph type="title"/>
          </p:nvPr>
        </p:nvSpPr>
        <p:spPr>
          <a:xfrm>
            <a:off x="838200" y="365126"/>
            <a:ext cx="10515600" cy="60228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Inter Medium"/>
              <a:buNone/>
              <a:defRPr b="0" i="0" sz="4400" u="none" cap="none" strike="noStrik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7"/>
          <p:cNvSpPr txBox="1"/>
          <p:nvPr>
            <p:ph idx="1" type="body"/>
          </p:nvPr>
        </p:nvSpPr>
        <p:spPr>
          <a:xfrm>
            <a:off x="838199" y="1143001"/>
            <a:ext cx="11032067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93700" lvl="0" marL="457200" marR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  <a:defRPr b="0" i="0" sz="2600" u="none" cap="none" strike="noStrik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indent="-393700" lvl="1" marL="9144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  <a:defRPr b="0" i="0" sz="2600" u="none" cap="none" strike="noStrik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indent="-393700" lvl="2" marL="13716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  <a:defRPr b="0" i="0" sz="2600" u="none" cap="none" strike="noStrik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indent="-393700" lvl="3" marL="18288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  <a:defRPr b="0" i="0" sz="2600" u="none" cap="none" strike="noStrik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indent="-393700" lvl="4" marL="22860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  <a:defRPr b="0" i="0" sz="2600" u="none" cap="none" strike="noStrik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12" name="Google Shape;12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13" name="Google Shape;13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14" name="Google Shape;14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10" Type="http://schemas.openxmlformats.org/officeDocument/2006/relationships/image" Target="../media/image6.png"/><Relationship Id="rId9" Type="http://schemas.openxmlformats.org/officeDocument/2006/relationships/image" Target="../media/image14.png"/><Relationship Id="rId5" Type="http://schemas.openxmlformats.org/officeDocument/2006/relationships/image" Target="../media/image7.png"/><Relationship Id="rId6" Type="http://schemas.openxmlformats.org/officeDocument/2006/relationships/image" Target="../media/image13.png"/><Relationship Id="rId7" Type="http://schemas.openxmlformats.org/officeDocument/2006/relationships/image" Target="../media/image4.png"/><Relationship Id="rId8" Type="http://schemas.openxmlformats.org/officeDocument/2006/relationships/image" Target="../media/image1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9.jpg"/><Relationship Id="rId4" Type="http://schemas.openxmlformats.org/officeDocument/2006/relationships/image" Target="../media/image10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"/>
          <p:cNvSpPr txBox="1"/>
          <p:nvPr>
            <p:ph type="title"/>
          </p:nvPr>
        </p:nvSpPr>
        <p:spPr>
          <a:xfrm>
            <a:off x="2883877" y="1355189"/>
            <a:ext cx="8698523" cy="213423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Inter Medium"/>
              <a:buNone/>
            </a:pPr>
            <a:r>
              <a:rPr lang="en-US"/>
              <a:t>Research Introduction</a:t>
            </a:r>
            <a:endParaRPr/>
          </a:p>
        </p:txBody>
      </p:sp>
      <p:sp>
        <p:nvSpPr>
          <p:cNvPr id="55" name="Google Shape;55;p1"/>
          <p:cNvSpPr txBox="1"/>
          <p:nvPr>
            <p:ph idx="1" type="body"/>
          </p:nvPr>
        </p:nvSpPr>
        <p:spPr>
          <a:xfrm>
            <a:off x="2926701" y="4023460"/>
            <a:ext cx="8655699" cy="161416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None/>
            </a:pPr>
            <a:r>
              <a:rPr lang="en-US" sz="3200"/>
              <a:t>M1 Kazuya Okamura</a:t>
            </a:r>
            <a:endParaRPr sz="2400"/>
          </a:p>
          <a:p>
            <a:pPr indent="0" lvl="0" marL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2400"/>
              <a:buNone/>
            </a:pPr>
            <a:r>
              <a:rPr lang="en-US" sz="2400"/>
              <a:t>2024/07/25</a:t>
            </a:r>
            <a:endParaRPr sz="2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"/>
          <p:cNvSpPr txBox="1"/>
          <p:nvPr>
            <p:ph type="title"/>
          </p:nvPr>
        </p:nvSpPr>
        <p:spPr>
          <a:xfrm>
            <a:off x="938714" y="327660"/>
            <a:ext cx="11221789" cy="57594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Inter Medium"/>
              <a:buNone/>
            </a:pPr>
            <a:r>
              <a:rPr lang="en-US"/>
              <a:t>Introduction</a:t>
            </a:r>
            <a:endParaRPr/>
          </a:p>
        </p:txBody>
      </p:sp>
      <p:sp>
        <p:nvSpPr>
          <p:cNvPr id="62" name="Google Shape;62;p2"/>
          <p:cNvSpPr txBox="1"/>
          <p:nvPr>
            <p:ph idx="12" type="sldNum"/>
          </p:nvPr>
        </p:nvSpPr>
        <p:spPr>
          <a:xfrm>
            <a:off x="9253181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3" name="Google Shape;63;p2"/>
          <p:cNvSpPr txBox="1"/>
          <p:nvPr>
            <p:ph idx="4294967295" type="body"/>
          </p:nvPr>
        </p:nvSpPr>
        <p:spPr>
          <a:xfrm>
            <a:off x="838199" y="1143001"/>
            <a:ext cx="11032067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/>
              <a:t>Joint research with JRI (日本総研) researcher</a:t>
            </a:r>
            <a:endParaRPr/>
          </a:p>
          <a:p>
            <a:pPr indent="-228600" lvl="1" marL="68580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/>
              <a:t>Same as M1 Suto</a:t>
            </a:r>
            <a:endParaRPr/>
          </a:p>
          <a:p>
            <a:pPr indent="-63500" lvl="1" marL="68580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/>
              <a:t>Research Theme: </a:t>
            </a:r>
            <a:endParaRPr/>
          </a:p>
          <a:p>
            <a:pPr indent="-228600" lvl="1" marL="68580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/>
              <a:t>Deep Randomized Time Warping for Action Recognition </a:t>
            </a:r>
            <a:r>
              <a:rPr baseline="30000" lang="en-US"/>
              <a:t>[1]</a:t>
            </a:r>
            <a:endParaRPr/>
          </a:p>
          <a:p>
            <a:pPr indent="-228600" lvl="1" marL="68580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/>
              <a:t>Mechanism of Randomized Time Warping versus Attention Module </a:t>
            </a:r>
            <a:r>
              <a:rPr baseline="30000" lang="en-US"/>
              <a:t>[2] </a:t>
            </a:r>
            <a:r>
              <a:rPr lang="en-US" sz="2000"/>
              <a:t>(not yet published)</a:t>
            </a:r>
            <a:endParaRPr/>
          </a:p>
          <a:p>
            <a:pPr indent="0" lvl="1" marL="45720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rPr lang="en-US"/>
              <a:t>　↓</a:t>
            </a:r>
            <a:endParaRPr/>
          </a:p>
          <a:p>
            <a:pPr indent="-228600" lvl="1" marL="68580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/>
              <a:t>Application based on RTW method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"/>
          <p:cNvSpPr txBox="1"/>
          <p:nvPr>
            <p:ph type="title"/>
          </p:nvPr>
        </p:nvSpPr>
        <p:spPr>
          <a:xfrm>
            <a:off x="938714" y="327660"/>
            <a:ext cx="11221789" cy="57594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Inter Medium"/>
              <a:buNone/>
            </a:pPr>
            <a:r>
              <a:rPr lang="en-US"/>
              <a:t>Overview of methods</a:t>
            </a:r>
            <a:endParaRPr/>
          </a:p>
        </p:txBody>
      </p:sp>
      <p:sp>
        <p:nvSpPr>
          <p:cNvPr id="70" name="Google Shape;70;p3"/>
          <p:cNvSpPr txBox="1"/>
          <p:nvPr>
            <p:ph idx="12" type="sldNum"/>
          </p:nvPr>
        </p:nvSpPr>
        <p:spPr>
          <a:xfrm>
            <a:off x="9253181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1" name="Google Shape;71;p3"/>
          <p:cNvSpPr txBox="1"/>
          <p:nvPr>
            <p:ph idx="4294967295" type="body"/>
          </p:nvPr>
        </p:nvSpPr>
        <p:spPr>
          <a:xfrm>
            <a:off x="838199" y="1143001"/>
            <a:ext cx="11032067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rPr lang="en-US"/>
              <a:t>Randomized Time Warping (RTW)</a:t>
            </a:r>
            <a:endParaRPr/>
          </a:p>
          <a:p>
            <a:pPr indent="-228600" lvl="0" marL="22860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/>
              <a:t>An extension method of DTW (Dynamic Time Warping)</a:t>
            </a:r>
            <a:endParaRPr/>
          </a:p>
          <a:p>
            <a:pPr indent="-228600" lvl="0" marL="22860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>
                <a:solidFill>
                  <a:schemeClr val="lt2"/>
                </a:solidFill>
              </a:rPr>
              <a:t>Time elastic (TE) features</a:t>
            </a:r>
            <a:r>
              <a:rPr lang="en-US"/>
              <a:t>:</a:t>
            </a:r>
            <a:endParaRPr/>
          </a:p>
          <a:p>
            <a:pPr indent="0" lvl="1" marL="45720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rPr lang="en-US"/>
              <a:t>Random sampling of input sequences while preserving temporal features</a:t>
            </a:r>
            <a:endParaRPr/>
          </a:p>
        </p:txBody>
      </p:sp>
      <p:sp>
        <p:nvSpPr>
          <p:cNvPr id="72" name="Google Shape;72;p3"/>
          <p:cNvSpPr/>
          <p:nvPr/>
        </p:nvSpPr>
        <p:spPr>
          <a:xfrm>
            <a:off x="3584330" y="4209206"/>
            <a:ext cx="704850" cy="457200"/>
          </a:xfrm>
          <a:prstGeom prst="rect">
            <a:avLst/>
          </a:prstGeom>
          <a:solidFill>
            <a:srgbClr val="C1F1BB"/>
          </a:solidFill>
          <a:ln cap="rnd" cmpd="sng" w="1905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solidFill>
                <a:schemeClr val="accent1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73" name="Google Shape;73;p3"/>
          <p:cNvSpPr txBox="1"/>
          <p:nvPr/>
        </p:nvSpPr>
        <p:spPr>
          <a:xfrm>
            <a:off x="838199" y="4168064"/>
            <a:ext cx="2465740" cy="49834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rPr>
              <a:t>Input sequence</a:t>
            </a:r>
            <a:endParaRPr b="0" i="0" sz="2400" u="none" cap="none" strike="noStrike">
              <a:solidFill>
                <a:schemeClr val="accent1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74" name="Google Shape;74;p3"/>
          <p:cNvSpPr/>
          <p:nvPr/>
        </p:nvSpPr>
        <p:spPr>
          <a:xfrm>
            <a:off x="4287715" y="4209206"/>
            <a:ext cx="704850" cy="457200"/>
          </a:xfrm>
          <a:prstGeom prst="rect">
            <a:avLst/>
          </a:prstGeom>
          <a:solidFill>
            <a:srgbClr val="FDCE61"/>
          </a:solidFill>
          <a:ln cap="rnd" cmpd="sng" w="1905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solidFill>
                <a:schemeClr val="accent1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75" name="Google Shape;75;p3"/>
          <p:cNvSpPr/>
          <p:nvPr/>
        </p:nvSpPr>
        <p:spPr>
          <a:xfrm>
            <a:off x="4991099" y="4209206"/>
            <a:ext cx="704850" cy="457200"/>
          </a:xfrm>
          <a:prstGeom prst="rect">
            <a:avLst/>
          </a:prstGeom>
          <a:solidFill>
            <a:srgbClr val="93CDF1"/>
          </a:solidFill>
          <a:ln cap="rnd" cmpd="sng" w="1905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solidFill>
                <a:schemeClr val="accent1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76" name="Google Shape;76;p3"/>
          <p:cNvSpPr/>
          <p:nvPr/>
        </p:nvSpPr>
        <p:spPr>
          <a:xfrm>
            <a:off x="5694484" y="4209206"/>
            <a:ext cx="704850" cy="457200"/>
          </a:xfrm>
          <a:prstGeom prst="rect">
            <a:avLst/>
          </a:prstGeom>
          <a:solidFill>
            <a:srgbClr val="F8C9A2"/>
          </a:solidFill>
          <a:ln cap="rnd" cmpd="sng" w="1905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solidFill>
                <a:schemeClr val="accent1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77" name="Google Shape;77;p3"/>
          <p:cNvSpPr/>
          <p:nvPr/>
        </p:nvSpPr>
        <p:spPr>
          <a:xfrm>
            <a:off x="6397868" y="4209206"/>
            <a:ext cx="704850" cy="457200"/>
          </a:xfrm>
          <a:prstGeom prst="rect">
            <a:avLst/>
          </a:prstGeom>
          <a:solidFill>
            <a:schemeClr val="accent2"/>
          </a:solidFill>
          <a:ln cap="rnd" cmpd="sng" w="1905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solidFill>
                <a:schemeClr val="accent1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78" name="Google Shape;78;p3"/>
          <p:cNvSpPr/>
          <p:nvPr/>
        </p:nvSpPr>
        <p:spPr>
          <a:xfrm>
            <a:off x="7101253" y="4209206"/>
            <a:ext cx="704850" cy="457200"/>
          </a:xfrm>
          <a:prstGeom prst="rect">
            <a:avLst/>
          </a:prstGeom>
          <a:solidFill>
            <a:srgbClr val="FFBCCD"/>
          </a:solidFill>
          <a:ln cap="rnd" cmpd="sng" w="1905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solidFill>
                <a:schemeClr val="accent1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79" name="Google Shape;79;p3"/>
          <p:cNvSpPr/>
          <p:nvPr/>
        </p:nvSpPr>
        <p:spPr>
          <a:xfrm>
            <a:off x="7804637" y="4209206"/>
            <a:ext cx="704850" cy="457200"/>
          </a:xfrm>
          <a:prstGeom prst="rect">
            <a:avLst/>
          </a:prstGeom>
          <a:solidFill>
            <a:schemeClr val="accent4"/>
          </a:solidFill>
          <a:ln cap="rnd" cmpd="sng" w="1905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solidFill>
                <a:schemeClr val="accent1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80" name="Google Shape;80;p3"/>
          <p:cNvSpPr/>
          <p:nvPr/>
        </p:nvSpPr>
        <p:spPr>
          <a:xfrm>
            <a:off x="8508022" y="4209206"/>
            <a:ext cx="704850" cy="457200"/>
          </a:xfrm>
          <a:prstGeom prst="rect">
            <a:avLst/>
          </a:prstGeom>
          <a:solidFill>
            <a:srgbClr val="92D050"/>
          </a:solidFill>
          <a:ln cap="rnd" cmpd="sng" w="1905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solidFill>
                <a:schemeClr val="accent1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81" name="Google Shape;81;p3"/>
          <p:cNvSpPr txBox="1"/>
          <p:nvPr/>
        </p:nvSpPr>
        <p:spPr>
          <a:xfrm>
            <a:off x="838199" y="5351578"/>
            <a:ext cx="1880643" cy="49834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rPr>
              <a:t>TE features</a:t>
            </a:r>
            <a:endParaRPr/>
          </a:p>
        </p:txBody>
      </p:sp>
      <p:sp>
        <p:nvSpPr>
          <p:cNvPr id="82" name="Google Shape;82;p3"/>
          <p:cNvSpPr/>
          <p:nvPr/>
        </p:nvSpPr>
        <p:spPr>
          <a:xfrm>
            <a:off x="3280996" y="5392720"/>
            <a:ext cx="704850" cy="457200"/>
          </a:xfrm>
          <a:prstGeom prst="rect">
            <a:avLst/>
          </a:prstGeom>
          <a:solidFill>
            <a:srgbClr val="C1F1BB"/>
          </a:solidFill>
          <a:ln cap="rnd" cmpd="sng" w="1905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solidFill>
                <a:schemeClr val="accent1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83" name="Google Shape;83;p3"/>
          <p:cNvSpPr/>
          <p:nvPr/>
        </p:nvSpPr>
        <p:spPr>
          <a:xfrm>
            <a:off x="3984381" y="5392720"/>
            <a:ext cx="704850" cy="457200"/>
          </a:xfrm>
          <a:prstGeom prst="rect">
            <a:avLst/>
          </a:prstGeom>
          <a:solidFill>
            <a:srgbClr val="FDCE61"/>
          </a:solidFill>
          <a:ln cap="rnd" cmpd="sng" w="1905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solidFill>
                <a:schemeClr val="accent1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84" name="Google Shape;84;p3"/>
          <p:cNvSpPr/>
          <p:nvPr/>
        </p:nvSpPr>
        <p:spPr>
          <a:xfrm>
            <a:off x="4692593" y="5392720"/>
            <a:ext cx="704850" cy="457200"/>
          </a:xfrm>
          <a:prstGeom prst="rect">
            <a:avLst/>
          </a:prstGeom>
          <a:solidFill>
            <a:srgbClr val="F8C9A2"/>
          </a:solidFill>
          <a:ln cap="rnd" cmpd="sng" w="1905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solidFill>
                <a:schemeClr val="accent1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85" name="Google Shape;85;p3"/>
          <p:cNvSpPr/>
          <p:nvPr/>
        </p:nvSpPr>
        <p:spPr>
          <a:xfrm>
            <a:off x="5846956" y="5392720"/>
            <a:ext cx="704850" cy="457200"/>
          </a:xfrm>
          <a:prstGeom prst="rect">
            <a:avLst/>
          </a:prstGeom>
          <a:solidFill>
            <a:srgbClr val="93CDF1"/>
          </a:solidFill>
          <a:ln cap="rnd" cmpd="sng" w="1905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solidFill>
                <a:schemeClr val="accent1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86" name="Google Shape;86;p3"/>
          <p:cNvSpPr/>
          <p:nvPr/>
        </p:nvSpPr>
        <p:spPr>
          <a:xfrm>
            <a:off x="6549608" y="5392720"/>
            <a:ext cx="704850" cy="457200"/>
          </a:xfrm>
          <a:prstGeom prst="rect">
            <a:avLst/>
          </a:prstGeom>
          <a:solidFill>
            <a:schemeClr val="accent2"/>
          </a:solidFill>
          <a:ln cap="rnd" cmpd="sng" w="1905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solidFill>
                <a:schemeClr val="accent1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87" name="Google Shape;87;p3"/>
          <p:cNvSpPr/>
          <p:nvPr/>
        </p:nvSpPr>
        <p:spPr>
          <a:xfrm>
            <a:off x="7254458" y="5392720"/>
            <a:ext cx="704850" cy="457200"/>
          </a:xfrm>
          <a:prstGeom prst="rect">
            <a:avLst/>
          </a:prstGeom>
          <a:solidFill>
            <a:srgbClr val="FFBCCD"/>
          </a:solidFill>
          <a:ln cap="rnd" cmpd="sng" w="1905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solidFill>
                <a:schemeClr val="accent1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88" name="Google Shape;88;p3"/>
          <p:cNvSpPr/>
          <p:nvPr/>
        </p:nvSpPr>
        <p:spPr>
          <a:xfrm>
            <a:off x="8410523" y="5392720"/>
            <a:ext cx="704850" cy="457200"/>
          </a:xfrm>
          <a:prstGeom prst="rect">
            <a:avLst/>
          </a:prstGeom>
          <a:solidFill>
            <a:srgbClr val="F8C9A2"/>
          </a:solidFill>
          <a:ln cap="rnd" cmpd="sng" w="1905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solidFill>
                <a:schemeClr val="accent1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89" name="Google Shape;89;p3"/>
          <p:cNvSpPr/>
          <p:nvPr/>
        </p:nvSpPr>
        <p:spPr>
          <a:xfrm>
            <a:off x="9115373" y="5392720"/>
            <a:ext cx="704850" cy="457200"/>
          </a:xfrm>
          <a:prstGeom prst="rect">
            <a:avLst/>
          </a:prstGeom>
          <a:solidFill>
            <a:srgbClr val="FFBCCD"/>
          </a:solidFill>
          <a:ln cap="rnd" cmpd="sng" w="1905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solidFill>
                <a:schemeClr val="accent1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90" name="Google Shape;90;p3"/>
          <p:cNvSpPr/>
          <p:nvPr/>
        </p:nvSpPr>
        <p:spPr>
          <a:xfrm>
            <a:off x="9820223" y="5392720"/>
            <a:ext cx="704850" cy="457200"/>
          </a:xfrm>
          <a:prstGeom prst="rect">
            <a:avLst/>
          </a:prstGeom>
          <a:solidFill>
            <a:srgbClr val="92D050"/>
          </a:solidFill>
          <a:ln cap="rnd" cmpd="sng" w="1905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solidFill>
                <a:schemeClr val="accent1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91" name="Google Shape;91;p3"/>
          <p:cNvSpPr txBox="1"/>
          <p:nvPr/>
        </p:nvSpPr>
        <p:spPr>
          <a:xfrm>
            <a:off x="10769164" y="5351578"/>
            <a:ext cx="463588" cy="49834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rPr>
              <a:t>…</a:t>
            </a:r>
            <a:endParaRPr/>
          </a:p>
        </p:txBody>
      </p:sp>
      <p:sp>
        <p:nvSpPr>
          <p:cNvPr id="92" name="Google Shape;92;p3"/>
          <p:cNvSpPr/>
          <p:nvPr/>
        </p:nvSpPr>
        <p:spPr>
          <a:xfrm>
            <a:off x="5853684" y="4798224"/>
            <a:ext cx="484632" cy="457201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7F7F7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solidFill>
                <a:schemeClr val="accent1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4"/>
          <p:cNvSpPr/>
          <p:nvPr/>
        </p:nvSpPr>
        <p:spPr>
          <a:xfrm>
            <a:off x="7170411" y="4615358"/>
            <a:ext cx="2256940" cy="945106"/>
          </a:xfrm>
          <a:prstGeom prst="ellipse">
            <a:avLst/>
          </a:prstGeom>
          <a:noFill/>
          <a:ln cap="rnd" cmpd="sng" w="19050">
            <a:solidFill>
              <a:srgbClr val="5959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solidFill>
                <a:schemeClr val="accent1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99" name="Google Shape;99;p4"/>
          <p:cNvSpPr/>
          <p:nvPr/>
        </p:nvSpPr>
        <p:spPr>
          <a:xfrm>
            <a:off x="1993411" y="3187111"/>
            <a:ext cx="1900400" cy="1900800"/>
          </a:xfrm>
          <a:prstGeom prst="ellipse">
            <a:avLst/>
          </a:prstGeom>
          <a:solidFill>
            <a:srgbClr val="D0EEF9">
              <a:alpha val="80000"/>
            </a:srgbClr>
          </a:solidFill>
          <a:ln cap="rnd" cmpd="sng" w="28575">
            <a:solidFill>
              <a:srgbClr val="5959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solidFill>
                <a:schemeClr val="accent1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100" name="Google Shape;100;p4"/>
          <p:cNvSpPr txBox="1"/>
          <p:nvPr>
            <p:ph type="title"/>
          </p:nvPr>
        </p:nvSpPr>
        <p:spPr>
          <a:xfrm>
            <a:off x="938714" y="327660"/>
            <a:ext cx="11221789" cy="57594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Inter Medium"/>
              <a:buNone/>
            </a:pPr>
            <a:r>
              <a:rPr b="1" lang="en-US" sz="32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rPr>
              <a:t>Randomized Time Warping (RTW)</a:t>
            </a:r>
            <a:endParaRPr/>
          </a:p>
        </p:txBody>
      </p:sp>
      <p:sp>
        <p:nvSpPr>
          <p:cNvPr id="101" name="Google Shape;101;p4"/>
          <p:cNvSpPr txBox="1"/>
          <p:nvPr>
            <p:ph idx="12" type="sldNum"/>
          </p:nvPr>
        </p:nvSpPr>
        <p:spPr>
          <a:xfrm>
            <a:off x="9253181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2" name="Google Shape;102;p4"/>
          <p:cNvSpPr txBox="1"/>
          <p:nvPr>
            <p:ph idx="4294967295" type="body"/>
          </p:nvPr>
        </p:nvSpPr>
        <p:spPr>
          <a:xfrm>
            <a:off x="838199" y="1143001"/>
            <a:ext cx="11032067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/>
              <a:t>Applying PCA to a set of TE features, measured by canonical angles, is more effective than DTW</a:t>
            </a:r>
            <a:endParaRPr/>
          </a:p>
        </p:txBody>
      </p:sp>
      <p:grpSp>
        <p:nvGrpSpPr>
          <p:cNvPr id="103" name="Google Shape;103;p4"/>
          <p:cNvGrpSpPr/>
          <p:nvPr/>
        </p:nvGrpSpPr>
        <p:grpSpPr>
          <a:xfrm>
            <a:off x="2320585" y="3583144"/>
            <a:ext cx="1251624" cy="1108336"/>
            <a:chOff x="1301425" y="3962318"/>
            <a:chExt cx="2116447" cy="1874152"/>
          </a:xfrm>
        </p:grpSpPr>
        <p:sp>
          <p:nvSpPr>
            <p:cNvPr id="104" name="Google Shape;104;p4"/>
            <p:cNvSpPr/>
            <p:nvPr/>
          </p:nvSpPr>
          <p:spPr>
            <a:xfrm>
              <a:off x="1301425" y="3962318"/>
              <a:ext cx="704850" cy="457200"/>
            </a:xfrm>
            <a:prstGeom prst="rect">
              <a:avLst/>
            </a:prstGeom>
            <a:solidFill>
              <a:srgbClr val="C1F1BB"/>
            </a:solidFill>
            <a:ln cap="rnd" cmpd="sng" w="19050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800" u="none" cap="none" strike="noStrike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  <p:sp>
          <p:nvSpPr>
            <p:cNvPr id="105" name="Google Shape;105;p4"/>
            <p:cNvSpPr/>
            <p:nvPr/>
          </p:nvSpPr>
          <p:spPr>
            <a:xfrm>
              <a:off x="2004810" y="3962318"/>
              <a:ext cx="704850" cy="457200"/>
            </a:xfrm>
            <a:prstGeom prst="rect">
              <a:avLst/>
            </a:prstGeom>
            <a:solidFill>
              <a:srgbClr val="FDCE61"/>
            </a:solidFill>
            <a:ln cap="rnd" cmpd="sng" w="19050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800" u="none" cap="none" strike="noStrike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  <p:sp>
          <p:nvSpPr>
            <p:cNvPr id="106" name="Google Shape;106;p4"/>
            <p:cNvSpPr/>
            <p:nvPr/>
          </p:nvSpPr>
          <p:spPr>
            <a:xfrm>
              <a:off x="2713022" y="3962318"/>
              <a:ext cx="704850" cy="457200"/>
            </a:xfrm>
            <a:prstGeom prst="rect">
              <a:avLst/>
            </a:prstGeom>
            <a:solidFill>
              <a:srgbClr val="F8C9A2"/>
            </a:solidFill>
            <a:ln cap="rnd" cmpd="sng" w="19050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800" u="none" cap="none" strike="noStrike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  <p:sp>
          <p:nvSpPr>
            <p:cNvPr id="107" name="Google Shape;107;p4"/>
            <p:cNvSpPr/>
            <p:nvPr/>
          </p:nvSpPr>
          <p:spPr>
            <a:xfrm>
              <a:off x="1301425" y="4670794"/>
              <a:ext cx="704850" cy="457200"/>
            </a:xfrm>
            <a:prstGeom prst="rect">
              <a:avLst/>
            </a:prstGeom>
            <a:solidFill>
              <a:srgbClr val="93CDF1"/>
            </a:solidFill>
            <a:ln cap="rnd" cmpd="sng" w="19050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800" u="none" cap="none" strike="noStrike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  <p:sp>
          <p:nvSpPr>
            <p:cNvPr id="108" name="Google Shape;108;p4"/>
            <p:cNvSpPr/>
            <p:nvPr/>
          </p:nvSpPr>
          <p:spPr>
            <a:xfrm>
              <a:off x="2004077" y="4670794"/>
              <a:ext cx="704850" cy="457200"/>
            </a:xfrm>
            <a:prstGeom prst="rect">
              <a:avLst/>
            </a:prstGeom>
            <a:solidFill>
              <a:schemeClr val="accent2"/>
            </a:solidFill>
            <a:ln cap="rnd" cmpd="sng" w="19050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800" u="none" cap="none" strike="noStrike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  <p:sp>
          <p:nvSpPr>
            <p:cNvPr id="109" name="Google Shape;109;p4"/>
            <p:cNvSpPr/>
            <p:nvPr/>
          </p:nvSpPr>
          <p:spPr>
            <a:xfrm>
              <a:off x="2708927" y="4670794"/>
              <a:ext cx="704850" cy="457200"/>
            </a:xfrm>
            <a:prstGeom prst="rect">
              <a:avLst/>
            </a:prstGeom>
            <a:solidFill>
              <a:srgbClr val="FFBCCD"/>
            </a:solidFill>
            <a:ln cap="rnd" cmpd="sng" w="19050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800" u="none" cap="none" strike="noStrike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  <p:sp>
          <p:nvSpPr>
            <p:cNvPr id="110" name="Google Shape;110;p4"/>
            <p:cNvSpPr/>
            <p:nvPr/>
          </p:nvSpPr>
          <p:spPr>
            <a:xfrm>
              <a:off x="1303322" y="5379270"/>
              <a:ext cx="704850" cy="457200"/>
            </a:xfrm>
            <a:prstGeom prst="rect">
              <a:avLst/>
            </a:prstGeom>
            <a:solidFill>
              <a:srgbClr val="F8C9A2"/>
            </a:solidFill>
            <a:ln cap="rnd" cmpd="sng" w="19050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800" u="none" cap="none" strike="noStrike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  <p:sp>
          <p:nvSpPr>
            <p:cNvPr id="111" name="Google Shape;111;p4"/>
            <p:cNvSpPr/>
            <p:nvPr/>
          </p:nvSpPr>
          <p:spPr>
            <a:xfrm>
              <a:off x="2008172" y="5379270"/>
              <a:ext cx="704850" cy="457200"/>
            </a:xfrm>
            <a:prstGeom prst="rect">
              <a:avLst/>
            </a:prstGeom>
            <a:solidFill>
              <a:srgbClr val="FFBCCD"/>
            </a:solidFill>
            <a:ln cap="rnd" cmpd="sng" w="19050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800" u="none" cap="none" strike="noStrike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  <p:sp>
          <p:nvSpPr>
            <p:cNvPr id="112" name="Google Shape;112;p4"/>
            <p:cNvSpPr/>
            <p:nvPr/>
          </p:nvSpPr>
          <p:spPr>
            <a:xfrm>
              <a:off x="2713022" y="5379270"/>
              <a:ext cx="704850" cy="457200"/>
            </a:xfrm>
            <a:prstGeom prst="rect">
              <a:avLst/>
            </a:prstGeom>
            <a:solidFill>
              <a:srgbClr val="92D050"/>
            </a:solidFill>
            <a:ln cap="rnd" cmpd="sng" w="19050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800" u="none" cap="none" strike="noStrike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  <p:sp>
        <p:nvSpPr>
          <p:cNvPr id="113" name="Google Shape;113;p4"/>
          <p:cNvSpPr txBox="1"/>
          <p:nvPr/>
        </p:nvSpPr>
        <p:spPr>
          <a:xfrm>
            <a:off x="2363898" y="2515600"/>
            <a:ext cx="2831224" cy="49834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rPr>
              <a:t>Set of TE features</a:t>
            </a:r>
            <a:endParaRPr b="0" i="0" sz="2400" u="none" cap="none" strike="noStrike">
              <a:solidFill>
                <a:schemeClr val="accent1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114" name="Google Shape;114;p4"/>
          <p:cNvSpPr/>
          <p:nvPr/>
        </p:nvSpPr>
        <p:spPr>
          <a:xfrm>
            <a:off x="3631711" y="3187111"/>
            <a:ext cx="1900400" cy="1900800"/>
          </a:xfrm>
          <a:prstGeom prst="ellipse">
            <a:avLst/>
          </a:prstGeom>
          <a:solidFill>
            <a:srgbClr val="FDE7CE">
              <a:alpha val="80000"/>
            </a:srgbClr>
          </a:solidFill>
          <a:ln cap="rnd" cmpd="sng" w="28575">
            <a:solidFill>
              <a:srgbClr val="59595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solidFill>
                <a:schemeClr val="accent1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grpSp>
        <p:nvGrpSpPr>
          <p:cNvPr id="115" name="Google Shape;115;p4"/>
          <p:cNvGrpSpPr/>
          <p:nvPr/>
        </p:nvGrpSpPr>
        <p:grpSpPr>
          <a:xfrm>
            <a:off x="3958885" y="3583144"/>
            <a:ext cx="1251624" cy="1108336"/>
            <a:chOff x="1301425" y="3962318"/>
            <a:chExt cx="2116447" cy="1874152"/>
          </a:xfrm>
        </p:grpSpPr>
        <p:sp>
          <p:nvSpPr>
            <p:cNvPr id="116" name="Google Shape;116;p4"/>
            <p:cNvSpPr/>
            <p:nvPr/>
          </p:nvSpPr>
          <p:spPr>
            <a:xfrm>
              <a:off x="1301425" y="3962318"/>
              <a:ext cx="704850" cy="457200"/>
            </a:xfrm>
            <a:prstGeom prst="rect">
              <a:avLst/>
            </a:prstGeom>
            <a:solidFill>
              <a:srgbClr val="95CEF2"/>
            </a:solidFill>
            <a:ln cap="rnd" cmpd="sng" w="19050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800" u="none" cap="none" strike="noStrike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  <p:sp>
          <p:nvSpPr>
            <p:cNvPr id="117" name="Google Shape;117;p4"/>
            <p:cNvSpPr/>
            <p:nvPr/>
          </p:nvSpPr>
          <p:spPr>
            <a:xfrm>
              <a:off x="2004810" y="3962318"/>
              <a:ext cx="704850" cy="457200"/>
            </a:xfrm>
            <a:prstGeom prst="rect">
              <a:avLst/>
            </a:prstGeom>
            <a:solidFill>
              <a:srgbClr val="F8C9A2"/>
            </a:solidFill>
            <a:ln cap="rnd" cmpd="sng" w="19050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800" u="none" cap="none" strike="noStrike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  <p:sp>
          <p:nvSpPr>
            <p:cNvPr id="118" name="Google Shape;118;p4"/>
            <p:cNvSpPr/>
            <p:nvPr/>
          </p:nvSpPr>
          <p:spPr>
            <a:xfrm>
              <a:off x="2713022" y="3962318"/>
              <a:ext cx="704850" cy="457200"/>
            </a:xfrm>
            <a:prstGeom prst="rect">
              <a:avLst/>
            </a:prstGeom>
            <a:solidFill>
              <a:srgbClr val="FFBCCD"/>
            </a:solidFill>
            <a:ln cap="rnd" cmpd="sng" w="19050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800" u="none" cap="none" strike="noStrike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  <p:sp>
          <p:nvSpPr>
            <p:cNvPr id="119" name="Google Shape;119;p4"/>
            <p:cNvSpPr/>
            <p:nvPr/>
          </p:nvSpPr>
          <p:spPr>
            <a:xfrm>
              <a:off x="1301425" y="4670794"/>
              <a:ext cx="704850" cy="457200"/>
            </a:xfrm>
            <a:prstGeom prst="rect">
              <a:avLst/>
            </a:prstGeom>
            <a:solidFill>
              <a:schemeClr val="accent2"/>
            </a:solidFill>
            <a:ln cap="rnd" cmpd="sng" w="19050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800" u="none" cap="none" strike="noStrike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  <p:sp>
          <p:nvSpPr>
            <p:cNvPr id="120" name="Google Shape;120;p4"/>
            <p:cNvSpPr/>
            <p:nvPr/>
          </p:nvSpPr>
          <p:spPr>
            <a:xfrm>
              <a:off x="2004077" y="4670794"/>
              <a:ext cx="704850" cy="457200"/>
            </a:xfrm>
            <a:prstGeom prst="rect">
              <a:avLst/>
            </a:prstGeom>
            <a:solidFill>
              <a:srgbClr val="FFBCCD"/>
            </a:solidFill>
            <a:ln cap="rnd" cmpd="sng" w="19050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800" u="none" cap="none" strike="noStrike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  <p:sp>
          <p:nvSpPr>
            <p:cNvPr id="121" name="Google Shape;121;p4"/>
            <p:cNvSpPr/>
            <p:nvPr/>
          </p:nvSpPr>
          <p:spPr>
            <a:xfrm>
              <a:off x="2708927" y="4670794"/>
              <a:ext cx="704850" cy="457200"/>
            </a:xfrm>
            <a:prstGeom prst="rect">
              <a:avLst/>
            </a:prstGeom>
            <a:solidFill>
              <a:schemeClr val="accent4"/>
            </a:solidFill>
            <a:ln cap="rnd" cmpd="sng" w="19050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800" u="none" cap="none" strike="noStrike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  <p:sp>
          <p:nvSpPr>
            <p:cNvPr id="122" name="Google Shape;122;p4"/>
            <p:cNvSpPr/>
            <p:nvPr/>
          </p:nvSpPr>
          <p:spPr>
            <a:xfrm>
              <a:off x="1303322" y="5379270"/>
              <a:ext cx="704850" cy="457200"/>
            </a:xfrm>
            <a:prstGeom prst="rect">
              <a:avLst/>
            </a:prstGeom>
            <a:solidFill>
              <a:srgbClr val="FFBCCD"/>
            </a:solidFill>
            <a:ln cap="rnd" cmpd="sng" w="19050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800" u="none" cap="none" strike="noStrike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  <p:sp>
          <p:nvSpPr>
            <p:cNvPr id="123" name="Google Shape;123;p4"/>
            <p:cNvSpPr/>
            <p:nvPr/>
          </p:nvSpPr>
          <p:spPr>
            <a:xfrm>
              <a:off x="2008172" y="5379270"/>
              <a:ext cx="704850" cy="457200"/>
            </a:xfrm>
            <a:prstGeom prst="rect">
              <a:avLst/>
            </a:prstGeom>
            <a:solidFill>
              <a:schemeClr val="accent4"/>
            </a:solidFill>
            <a:ln cap="rnd" cmpd="sng" w="19050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800" u="none" cap="none" strike="noStrike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  <p:sp>
          <p:nvSpPr>
            <p:cNvPr id="124" name="Google Shape;124;p4"/>
            <p:cNvSpPr/>
            <p:nvPr/>
          </p:nvSpPr>
          <p:spPr>
            <a:xfrm>
              <a:off x="2713022" y="5379270"/>
              <a:ext cx="704850" cy="457200"/>
            </a:xfrm>
            <a:prstGeom prst="rect">
              <a:avLst/>
            </a:prstGeom>
            <a:solidFill>
              <a:srgbClr val="92D050"/>
            </a:solidFill>
            <a:ln cap="rnd" cmpd="sng" w="19050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800" u="none" cap="none" strike="noStrike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  <p:sp>
        <p:nvSpPr>
          <p:cNvPr id="125" name="Google Shape;125;p4"/>
          <p:cNvSpPr/>
          <p:nvPr/>
        </p:nvSpPr>
        <p:spPr>
          <a:xfrm rot="-5400000">
            <a:off x="5943108" y="3631607"/>
            <a:ext cx="484632" cy="714212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7F7F7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solidFill>
                <a:schemeClr val="accent1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126" name="Google Shape;126;p4"/>
          <p:cNvSpPr txBox="1"/>
          <p:nvPr/>
        </p:nvSpPr>
        <p:spPr>
          <a:xfrm>
            <a:off x="5728591" y="4272502"/>
            <a:ext cx="825867" cy="49834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rPr>
              <a:t>PCA</a:t>
            </a:r>
            <a:endParaRPr b="0" i="0" sz="2400" u="none" cap="none" strike="noStrike">
              <a:solidFill>
                <a:schemeClr val="accent1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127" name="Google Shape;127;p4"/>
          <p:cNvSpPr txBox="1"/>
          <p:nvPr/>
        </p:nvSpPr>
        <p:spPr>
          <a:xfrm>
            <a:off x="2414459" y="5122529"/>
            <a:ext cx="1058303" cy="49834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rPr>
              <a:t>Seq. 1</a:t>
            </a:r>
            <a:endParaRPr b="0" i="0" sz="2400" u="none" cap="none" strike="noStrike">
              <a:solidFill>
                <a:schemeClr val="accent1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128" name="Google Shape;128;p4"/>
          <p:cNvSpPr txBox="1"/>
          <p:nvPr/>
        </p:nvSpPr>
        <p:spPr>
          <a:xfrm>
            <a:off x="4052759" y="5122529"/>
            <a:ext cx="1119217" cy="49834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rPr>
              <a:t>Seq. 2</a:t>
            </a:r>
            <a:endParaRPr b="0" i="0" sz="2400" u="none" cap="none" strike="noStrike">
              <a:solidFill>
                <a:schemeClr val="accent1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grpSp>
        <p:nvGrpSpPr>
          <p:cNvPr id="129" name="Google Shape;129;p4"/>
          <p:cNvGrpSpPr/>
          <p:nvPr/>
        </p:nvGrpSpPr>
        <p:grpSpPr>
          <a:xfrm rot="913813">
            <a:off x="8056519" y="3230656"/>
            <a:ext cx="1832482" cy="2305033"/>
            <a:chOff x="7461971" y="3774362"/>
            <a:chExt cx="1832482" cy="2305033"/>
          </a:xfrm>
        </p:grpSpPr>
        <p:sp>
          <p:nvSpPr>
            <p:cNvPr id="130" name="Google Shape;130;p4"/>
            <p:cNvSpPr/>
            <p:nvPr/>
          </p:nvSpPr>
          <p:spPr>
            <a:xfrm rot="-9310706">
              <a:off x="7770175" y="4233583"/>
              <a:ext cx="1060704" cy="1701779"/>
            </a:xfrm>
            <a:prstGeom prst="triangle">
              <a:avLst>
                <a:gd fmla="val 50000" name="adj"/>
              </a:avLst>
            </a:prstGeom>
            <a:solidFill>
              <a:srgbClr val="FDE7CE"/>
            </a:solidFill>
            <a:ln cap="rnd" cmpd="sng" w="19050">
              <a:solidFill>
                <a:srgbClr val="595959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800" u="none" cap="none" strike="noStrike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  <p:sp>
          <p:nvSpPr>
            <p:cNvPr id="131" name="Google Shape;131;p4"/>
            <p:cNvSpPr/>
            <p:nvPr/>
          </p:nvSpPr>
          <p:spPr>
            <a:xfrm rot="1475471">
              <a:off x="8145592" y="3970600"/>
              <a:ext cx="1073285" cy="597151"/>
            </a:xfrm>
            <a:prstGeom prst="ellipse">
              <a:avLst/>
            </a:prstGeom>
            <a:solidFill>
              <a:srgbClr val="FDE7CE"/>
            </a:solidFill>
            <a:ln cap="rnd" cmpd="sng" w="19050">
              <a:solidFill>
                <a:srgbClr val="595959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800" u="none" cap="none" strike="noStrike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  <p:grpSp>
        <p:nvGrpSpPr>
          <p:cNvPr id="132" name="Google Shape;132;p4"/>
          <p:cNvGrpSpPr/>
          <p:nvPr/>
        </p:nvGrpSpPr>
        <p:grpSpPr>
          <a:xfrm rot="-2828329">
            <a:off x="6993306" y="3061498"/>
            <a:ext cx="1832482" cy="2305033"/>
            <a:chOff x="7461971" y="3774362"/>
            <a:chExt cx="1832482" cy="2305033"/>
          </a:xfrm>
        </p:grpSpPr>
        <p:sp>
          <p:nvSpPr>
            <p:cNvPr id="133" name="Google Shape;133;p4"/>
            <p:cNvSpPr/>
            <p:nvPr/>
          </p:nvSpPr>
          <p:spPr>
            <a:xfrm rot="-9310706">
              <a:off x="7770175" y="4233583"/>
              <a:ext cx="1060704" cy="1701779"/>
            </a:xfrm>
            <a:prstGeom prst="triangle">
              <a:avLst>
                <a:gd fmla="val 50000" name="adj"/>
              </a:avLst>
            </a:prstGeom>
            <a:solidFill>
              <a:srgbClr val="D0EEF9"/>
            </a:solidFill>
            <a:ln cap="rnd" cmpd="sng" w="19050">
              <a:solidFill>
                <a:srgbClr val="595959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800" u="none" cap="none" strike="noStrike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  <p:sp>
          <p:nvSpPr>
            <p:cNvPr id="134" name="Google Shape;134;p4"/>
            <p:cNvSpPr/>
            <p:nvPr/>
          </p:nvSpPr>
          <p:spPr>
            <a:xfrm rot="1475471">
              <a:off x="8145592" y="3970600"/>
              <a:ext cx="1073285" cy="597151"/>
            </a:xfrm>
            <a:prstGeom prst="ellipse">
              <a:avLst/>
            </a:prstGeom>
            <a:solidFill>
              <a:srgbClr val="D0EEF9"/>
            </a:solidFill>
            <a:ln cap="rnd" cmpd="sng" w="19050">
              <a:solidFill>
                <a:srgbClr val="595959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800" u="none" cap="none" strike="noStrike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  <p:sp>
        <p:nvSpPr>
          <p:cNvPr id="135" name="Google Shape;135;p4"/>
          <p:cNvSpPr/>
          <p:nvPr/>
        </p:nvSpPr>
        <p:spPr>
          <a:xfrm rot="-1679076">
            <a:off x="7698495" y="4266249"/>
            <a:ext cx="1177218" cy="1009190"/>
          </a:xfrm>
          <a:prstGeom prst="arc">
            <a:avLst>
              <a:gd fmla="val 16200000" name="adj1"/>
              <a:gd fmla="val 0" name="adj2"/>
            </a:avLst>
          </a:prstGeom>
          <a:noFill/>
          <a:ln cap="rnd" cmpd="sng" w="25400">
            <a:solidFill>
              <a:schemeClr val="dk1"/>
            </a:solidFill>
            <a:prstDash val="solid"/>
            <a:miter lim="800000"/>
            <a:headEnd len="med" w="med" type="stealth"/>
            <a:tailEnd len="med" w="med" type="stealth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5"/>
          <p:cNvSpPr txBox="1"/>
          <p:nvPr>
            <p:ph type="title"/>
          </p:nvPr>
        </p:nvSpPr>
        <p:spPr>
          <a:xfrm>
            <a:off x="938714" y="327660"/>
            <a:ext cx="11221789" cy="57594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Inter Medium"/>
              <a:buNone/>
            </a:pPr>
            <a:r>
              <a:rPr b="1" lang="en-US" sz="32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rPr>
              <a:t>Randomized Time Warping (RTW)</a:t>
            </a:r>
            <a:endParaRPr/>
          </a:p>
        </p:txBody>
      </p:sp>
      <p:sp>
        <p:nvSpPr>
          <p:cNvPr id="142" name="Google Shape;142;p5"/>
          <p:cNvSpPr txBox="1"/>
          <p:nvPr>
            <p:ph idx="12" type="sldNum"/>
          </p:nvPr>
        </p:nvSpPr>
        <p:spPr>
          <a:xfrm>
            <a:off x="9253181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3" name="Google Shape;143;p5"/>
          <p:cNvSpPr txBox="1"/>
          <p:nvPr>
            <p:ph idx="4294967295" type="body"/>
          </p:nvPr>
        </p:nvSpPr>
        <p:spPr>
          <a:xfrm>
            <a:off x="838199" y="1143001"/>
            <a:ext cx="11032067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rPr lang="en-US"/>
              <a:t>Advantage</a:t>
            </a:r>
            <a:endParaRPr/>
          </a:p>
          <a:p>
            <a:pPr indent="-228600" lvl="0" marL="22860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/>
              <a:t>By random sampling, TE features can be represented at </a:t>
            </a:r>
            <a:r>
              <a:rPr lang="en-US">
                <a:solidFill>
                  <a:schemeClr val="lt2"/>
                </a:solidFill>
              </a:rPr>
              <a:t>local</a:t>
            </a:r>
            <a:r>
              <a:rPr lang="en-US"/>
              <a:t> and </a:t>
            </a:r>
            <a:r>
              <a:rPr lang="en-US">
                <a:solidFill>
                  <a:schemeClr val="lt2"/>
                </a:solidFill>
              </a:rPr>
              <a:t>global scales</a:t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sz="1600"/>
          </a:p>
          <a:p>
            <a:pPr indent="-228600" lvl="0" marL="22860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/>
              <a:t>RTW can be interpreted as focusing on highly similar features among multiple TE features</a:t>
            </a:r>
            <a:endParaRPr/>
          </a:p>
          <a:p>
            <a:pPr indent="0" lvl="1" marL="45720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rPr lang="en-US"/>
              <a:t>→ It can be regarded as a </a:t>
            </a:r>
            <a:r>
              <a:rPr lang="en-US">
                <a:solidFill>
                  <a:schemeClr val="lt2"/>
                </a:solidFill>
              </a:rPr>
              <a:t>self-attention mechanism</a:t>
            </a:r>
            <a:endParaRPr/>
          </a:p>
          <a:p>
            <a:pPr indent="-158750" lvl="0" marL="22860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sz="1100"/>
          </a:p>
          <a:p>
            <a:pPr indent="-228600" lvl="0" marL="22860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/>
              <a:t>Furthermore, subspace </a:t>
            </a:r>
            <a:r>
              <a:rPr lang="en-US">
                <a:solidFill>
                  <a:schemeClr val="dk1"/>
                </a:solidFill>
              </a:rPr>
              <a:t>representations can be generated stably even with small amounts of data</a:t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rPr lang="en-US">
                <a:solidFill>
                  <a:schemeClr val="dk1"/>
                </a:solidFill>
              </a:rPr>
              <a:t>     →</a:t>
            </a:r>
            <a:r>
              <a:rPr lang="en-US"/>
              <a:t> In small sample sizes, it is superior to self-attention mechanism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6"/>
          <p:cNvSpPr txBox="1"/>
          <p:nvPr>
            <p:ph type="title"/>
          </p:nvPr>
        </p:nvSpPr>
        <p:spPr>
          <a:xfrm>
            <a:off x="938714" y="327660"/>
            <a:ext cx="11221789" cy="57594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Inter Medium"/>
              <a:buNone/>
            </a:pPr>
            <a:r>
              <a:rPr lang="en-US"/>
              <a:t>Overview of methods</a:t>
            </a:r>
            <a:endParaRPr/>
          </a:p>
        </p:txBody>
      </p:sp>
      <p:sp>
        <p:nvSpPr>
          <p:cNvPr id="150" name="Google Shape;150;p6"/>
          <p:cNvSpPr txBox="1"/>
          <p:nvPr>
            <p:ph idx="12" type="sldNum"/>
          </p:nvPr>
        </p:nvSpPr>
        <p:spPr>
          <a:xfrm>
            <a:off x="9253181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1" name="Google Shape;151;p6"/>
          <p:cNvSpPr txBox="1"/>
          <p:nvPr>
            <p:ph idx="4294967295" type="body"/>
          </p:nvPr>
        </p:nvSpPr>
        <p:spPr>
          <a:xfrm>
            <a:off x="838199" y="1143001"/>
            <a:ext cx="11032067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Char char="•"/>
            </a:pPr>
            <a:r>
              <a:rPr lang="en-US" sz="28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rPr>
              <a:t>Deep Randomized Time Warping for Action Recognition </a:t>
            </a:r>
            <a:r>
              <a:rPr baseline="30000" lang="en-US" sz="28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rPr>
              <a:t>[1]</a:t>
            </a:r>
            <a:endParaRPr/>
          </a:p>
          <a:p>
            <a:pPr indent="-228600" lvl="1" marL="68580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/>
              <a:t>Extracted from 2D/3D CNN and converted to TE features through RTW</a:t>
            </a:r>
            <a:endParaRPr/>
          </a:p>
          <a:p>
            <a:pPr indent="-228600" lvl="1" marL="68580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/>
              <a:t>Therefore, it can be applied to various CNN architectures</a:t>
            </a:r>
            <a:endParaRPr/>
          </a:p>
          <a:p>
            <a:pPr indent="-63500" lvl="0" marL="22860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t/>
            </a:r>
            <a:endParaRPr/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Char char="•"/>
            </a:pPr>
            <a:r>
              <a:rPr lang="en-US" sz="26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Mechanism of Randomized Time Warping versus Attention Module </a:t>
            </a:r>
            <a:r>
              <a:rPr baseline="30000" lang="en-US" sz="26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[2]</a:t>
            </a:r>
            <a:endParaRPr sz="2600"/>
          </a:p>
          <a:p>
            <a:pPr indent="-228600" lvl="1" marL="68580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/>
              <a:t>Spatial Transformer + RTW</a:t>
            </a:r>
            <a:endParaRPr/>
          </a:p>
          <a:p>
            <a:pPr indent="-228600" lvl="1" marL="68580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/>
              <a:t>RTW performs as well as or better than a self-attention mechanism</a:t>
            </a:r>
            <a:endParaRPr/>
          </a:p>
          <a:p>
            <a:pPr indent="-63500" lvl="1" marL="68580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7"/>
          <p:cNvSpPr txBox="1"/>
          <p:nvPr>
            <p:ph type="title"/>
          </p:nvPr>
        </p:nvSpPr>
        <p:spPr>
          <a:xfrm>
            <a:off x="938714" y="327660"/>
            <a:ext cx="11221789" cy="57594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Inter Medium"/>
              <a:buNone/>
            </a:pPr>
            <a:r>
              <a:rPr lang="en-US"/>
              <a:t>Future work</a:t>
            </a:r>
            <a:endParaRPr/>
          </a:p>
        </p:txBody>
      </p:sp>
      <p:sp>
        <p:nvSpPr>
          <p:cNvPr id="158" name="Google Shape;158;p7"/>
          <p:cNvSpPr txBox="1"/>
          <p:nvPr>
            <p:ph idx="12" type="sldNum"/>
          </p:nvPr>
        </p:nvSpPr>
        <p:spPr>
          <a:xfrm>
            <a:off x="9253181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9" name="Google Shape;159;p7"/>
          <p:cNvSpPr txBox="1"/>
          <p:nvPr>
            <p:ph idx="4294967295" type="body"/>
          </p:nvPr>
        </p:nvSpPr>
        <p:spPr>
          <a:xfrm>
            <a:off x="838199" y="1143001"/>
            <a:ext cx="11032067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/>
              <a:t>Reproduce the Transformer+RTW program and verify that it works properly on supercomputer</a:t>
            </a:r>
            <a:endParaRPr/>
          </a:p>
          <a:p>
            <a:pPr indent="-63500" lvl="0" marL="22860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/>
              <a:t>Consider a</a:t>
            </a:r>
            <a:r>
              <a:rPr lang="en-US" sz="26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rPr>
              <a:t>pplications based on RTW method </a:t>
            </a:r>
            <a:r>
              <a:rPr lang="en-US"/>
              <a:t>(not just video recognition)</a:t>
            </a:r>
            <a:endParaRPr/>
          </a:p>
          <a:p>
            <a:pPr indent="-228600" lvl="1" marL="68580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/>
              <a:t>To other targets</a:t>
            </a:r>
            <a:endParaRPr/>
          </a:p>
          <a:p>
            <a:pPr indent="-228600" lvl="2" marL="114300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/>
              <a:t>Sign language recognition</a:t>
            </a:r>
            <a:endParaRPr/>
          </a:p>
          <a:p>
            <a:pPr indent="-228600" lvl="2" marL="114300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/>
              <a:t>etc...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8"/>
          <p:cNvSpPr txBox="1"/>
          <p:nvPr>
            <p:ph type="title"/>
          </p:nvPr>
        </p:nvSpPr>
        <p:spPr>
          <a:xfrm>
            <a:off x="938714" y="327660"/>
            <a:ext cx="11221789" cy="57594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Inter Medium"/>
              <a:buNone/>
            </a:pPr>
            <a:r>
              <a:rPr lang="en-US"/>
              <a:t>Progress</a:t>
            </a:r>
            <a:endParaRPr/>
          </a:p>
        </p:txBody>
      </p:sp>
      <p:sp>
        <p:nvSpPr>
          <p:cNvPr id="166" name="Google Shape;166;p8"/>
          <p:cNvSpPr txBox="1"/>
          <p:nvPr>
            <p:ph idx="12" type="sldNum"/>
          </p:nvPr>
        </p:nvSpPr>
        <p:spPr>
          <a:xfrm>
            <a:off x="9253181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7" name="Google Shape;167;p8"/>
          <p:cNvSpPr txBox="1"/>
          <p:nvPr>
            <p:ph idx="4294967295" type="body"/>
          </p:nvPr>
        </p:nvSpPr>
        <p:spPr>
          <a:xfrm>
            <a:off x="838199" y="1143001"/>
            <a:ext cx="11032067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/>
              <a:t>Verify Transformer+RTW program on supercomputer</a:t>
            </a:r>
            <a:endParaRPr/>
          </a:p>
          <a:p>
            <a:pPr indent="-152400" lvl="0" marL="22860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rPr lang="en-US"/>
              <a:t>Done</a:t>
            </a:r>
            <a:endParaRPr/>
          </a:p>
          <a:p>
            <a:pPr indent="-228600" lvl="1" marL="68580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Noto Sans Symbols"/>
              <a:buChar char="✔"/>
            </a:pPr>
            <a:r>
              <a:rPr lang="en-US"/>
              <a:t>Verification of GPU training behavior using previous research programs</a:t>
            </a:r>
            <a:endParaRPr/>
          </a:p>
          <a:p>
            <a:pPr indent="-228600" lvl="1" marL="68580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Noto Sans Symbols"/>
              <a:buChar char="✔"/>
            </a:pPr>
            <a:r>
              <a:rPr lang="en-US"/>
              <a:t>Dataset preparation (Something-Something V2)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9"/>
          <p:cNvSpPr txBox="1"/>
          <p:nvPr>
            <p:ph type="title"/>
          </p:nvPr>
        </p:nvSpPr>
        <p:spPr>
          <a:xfrm>
            <a:off x="938714" y="327660"/>
            <a:ext cx="11221789" cy="57594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Inter Medium"/>
              <a:buNone/>
            </a:pPr>
            <a:r>
              <a:rPr lang="en-US"/>
              <a:t>Verification of GPU training behavior</a:t>
            </a:r>
            <a:endParaRPr/>
          </a:p>
        </p:txBody>
      </p:sp>
      <p:sp>
        <p:nvSpPr>
          <p:cNvPr id="174" name="Google Shape;174;p9"/>
          <p:cNvSpPr txBox="1"/>
          <p:nvPr>
            <p:ph idx="12" type="sldNum"/>
          </p:nvPr>
        </p:nvSpPr>
        <p:spPr>
          <a:xfrm>
            <a:off x="9253181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5" name="Google Shape;175;p9"/>
          <p:cNvSpPr txBox="1"/>
          <p:nvPr>
            <p:ph idx="4294967295" type="body"/>
          </p:nvPr>
        </p:nvSpPr>
        <p:spPr>
          <a:xfrm>
            <a:off x="838199" y="1143001"/>
            <a:ext cx="11032067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Noto Sans Symbols"/>
              <a:buChar char="✔"/>
            </a:pPr>
            <a:r>
              <a:rPr lang="en-US"/>
              <a:t>Whether GPU-based learning is possible</a:t>
            </a:r>
            <a:endParaRPr/>
          </a:p>
          <a:p>
            <a:pPr indent="-228600" lvl="0" marL="22860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Noto Sans Symbols"/>
              <a:buChar char="✔"/>
            </a:pPr>
            <a:r>
              <a:rPr lang="en-US"/>
              <a:t>Whether the learning is progressing correctly</a:t>
            </a:r>
            <a:endParaRPr/>
          </a:p>
          <a:p>
            <a:pPr indent="-228600" lvl="1" marL="68580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/>
              <a:t>Using PSPNet (Pyramid Scene Parsing Network)</a:t>
            </a:r>
            <a:endParaRPr/>
          </a:p>
        </p:txBody>
      </p:sp>
      <p:pic>
        <p:nvPicPr>
          <p:cNvPr id="176" name="Google Shape;176;p9"/>
          <p:cNvPicPr preferRelativeResize="0"/>
          <p:nvPr/>
        </p:nvPicPr>
        <p:blipFill rotWithShape="1">
          <a:blip r:embed="rId3">
            <a:alphaModFix/>
          </a:blip>
          <a:srcRect b="56291" l="6645" r="5586" t="8886"/>
          <a:stretch/>
        </p:blipFill>
        <p:spPr>
          <a:xfrm>
            <a:off x="1234578" y="3620295"/>
            <a:ext cx="9722844" cy="300910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9"/>
          <p:cNvPicPr preferRelativeResize="0"/>
          <p:nvPr/>
        </p:nvPicPr>
        <p:blipFill rotWithShape="1">
          <a:blip r:embed="rId4">
            <a:alphaModFix/>
          </a:blip>
          <a:srcRect b="85398" l="5899" r="27755" t="8713"/>
          <a:stretch/>
        </p:blipFill>
        <p:spPr>
          <a:xfrm>
            <a:off x="1234577" y="2854975"/>
            <a:ext cx="9722845" cy="6732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0"/>
          <p:cNvSpPr txBox="1"/>
          <p:nvPr>
            <p:ph type="title"/>
          </p:nvPr>
        </p:nvSpPr>
        <p:spPr>
          <a:xfrm>
            <a:off x="938714" y="327660"/>
            <a:ext cx="11221789" cy="57594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Inter Medium"/>
              <a:buNone/>
            </a:pPr>
            <a:r>
              <a:rPr b="1" lang="en-US" sz="32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rPr>
              <a:t>Verification of GPU training behavior </a:t>
            </a:r>
            <a:endParaRPr/>
          </a:p>
        </p:txBody>
      </p:sp>
      <p:sp>
        <p:nvSpPr>
          <p:cNvPr id="184" name="Google Shape;184;p10"/>
          <p:cNvSpPr txBox="1"/>
          <p:nvPr>
            <p:ph idx="12" type="sldNum"/>
          </p:nvPr>
        </p:nvSpPr>
        <p:spPr>
          <a:xfrm>
            <a:off x="9253181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5" name="Google Shape;185;p10"/>
          <p:cNvSpPr txBox="1"/>
          <p:nvPr>
            <p:ph idx="4294967295" type="body"/>
          </p:nvPr>
        </p:nvSpPr>
        <p:spPr>
          <a:xfrm>
            <a:off x="838199" y="1143001"/>
            <a:ext cx="11032067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/>
              <a:t>PSPNet</a:t>
            </a:r>
            <a:endParaRPr/>
          </a:p>
          <a:p>
            <a:pPr indent="-63500" lvl="0" marL="22860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rPr lang="en-US"/>
              <a:t>Training speed</a:t>
            </a:r>
            <a:endParaRPr/>
          </a:p>
        </p:txBody>
      </p:sp>
      <p:graphicFrame>
        <p:nvGraphicFramePr>
          <p:cNvPr id="186" name="Google Shape;186;p10"/>
          <p:cNvGraphicFramePr/>
          <p:nvPr/>
        </p:nvGraphicFramePr>
        <p:xfrm>
          <a:off x="938714" y="2892112"/>
          <a:ext cx="3000000" cy="3000000"/>
        </p:xfrm>
        <a:graphic>
          <a:graphicData uri="http://schemas.openxmlformats.org/drawingml/2006/table">
            <a:tbl>
              <a:tblPr firstRow="1">
                <a:noFill/>
                <a:tableStyleId>{2CE37F23-0E2B-4CB0-867A-C06D669CA5DC}</a:tableStyleId>
              </a:tblPr>
              <a:tblGrid>
                <a:gridCol w="3662675"/>
                <a:gridCol w="2454750"/>
              </a:tblGrid>
              <a:tr h="6544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u="none" cap="none" strike="noStrike">
                          <a:solidFill>
                            <a:srgbClr val="000000"/>
                          </a:solidFill>
                        </a:rPr>
                        <a:t>GPU / Computer</a:t>
                      </a:r>
                      <a:endParaRPr sz="2200" u="none" cap="none" strike="noStrike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D0EE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u="none" cap="none" strike="noStrike">
                          <a:solidFill>
                            <a:srgbClr val="000000"/>
                          </a:solidFill>
                        </a:rPr>
                        <a:t>Training speed</a:t>
                      </a:r>
                      <a:endParaRPr sz="2200" u="none" cap="none" strike="noStrike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D0EEF9"/>
                    </a:solidFill>
                  </a:tcPr>
                </a:tc>
              </a:tr>
              <a:tr h="9954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u="none" cap="none" strike="noStrike">
                          <a:solidFill>
                            <a:srgbClr val="000000"/>
                          </a:solidFill>
                        </a:rPr>
                        <a:t>NVIDIA RTX2060 (6GB)</a:t>
                      </a:r>
                      <a:endParaRPr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u="none" cap="none" strike="noStrike">
                          <a:solidFill>
                            <a:srgbClr val="000000"/>
                          </a:solidFill>
                        </a:rPr>
                        <a:t>on laptop computer</a:t>
                      </a:r>
                      <a:endParaRPr/>
                    </a:p>
                  </a:txBody>
                  <a:tcPr marT="45725" marB="45725" marR="91450" marL="91450" anchor="ctr"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u="none" cap="none" strike="noStrike">
                          <a:solidFill>
                            <a:srgbClr val="000000"/>
                          </a:solidFill>
                        </a:rPr>
                        <a:t>30m /epoch</a:t>
                      </a:r>
                      <a:endParaRPr sz="2200" u="none" cap="none" strike="noStrike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</a:tr>
              <a:tr h="9954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200"/>
                        <a:buFont typeface="Inter Medium"/>
                        <a:buNone/>
                      </a:pPr>
                      <a:r>
                        <a:rPr lang="en-US" sz="2200" u="none" cap="none" strike="noStrike">
                          <a:solidFill>
                            <a:srgbClr val="000000"/>
                          </a:solidFill>
                        </a:rPr>
                        <a:t>NVIDIA H100 (80GB)</a:t>
                      </a:r>
                      <a:endParaRPr sz="2200" u="none" cap="none" strike="noStrike">
                        <a:solidFill>
                          <a:srgbClr val="000000"/>
                        </a:solidFill>
                      </a:endParaRPr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u="none" cap="none" strike="noStrike">
                          <a:solidFill>
                            <a:srgbClr val="000000"/>
                          </a:solidFill>
                        </a:rPr>
                        <a:t>on supercomputer</a:t>
                      </a:r>
                      <a:endParaRPr sz="2200" u="none" cap="none" strike="noStrike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u="none" cap="none" strike="noStrike">
                          <a:solidFill>
                            <a:srgbClr val="000000"/>
                          </a:solidFill>
                        </a:rPr>
                        <a:t>4-5m /epoch</a:t>
                      </a:r>
                      <a:endParaRPr sz="2200" u="none" cap="none" strike="noStrike">
                        <a:solidFill>
                          <a:srgbClr val="000000"/>
                        </a:solidFill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</a:tr>
            </a:tbl>
          </a:graphicData>
        </a:graphic>
      </p:graphicFrame>
      <p:sp>
        <p:nvSpPr>
          <p:cNvPr id="187" name="Google Shape;187;p10"/>
          <p:cNvSpPr txBox="1"/>
          <p:nvPr/>
        </p:nvSpPr>
        <p:spPr>
          <a:xfrm>
            <a:off x="7403505" y="4111875"/>
            <a:ext cx="4567276" cy="14924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00" u="none" cap="none" strike="noStrike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rPr>
              <a:t>Hyperparameter</a:t>
            </a:r>
            <a:endParaRPr/>
          </a:p>
          <a:p>
            <a:pPr indent="-342900" lvl="0" marL="3429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600"/>
              <a:buFont typeface="Arial"/>
              <a:buChar char="•"/>
            </a:pPr>
            <a:r>
              <a:rPr b="0" i="0" lang="en-US" sz="2600" u="none" cap="none" strike="noStrike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rPr>
              <a:t>Batch size	: 16</a:t>
            </a:r>
            <a:endParaRPr/>
          </a:p>
          <a:p>
            <a:pPr indent="-342900" lvl="0" marL="3429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600"/>
              <a:buFont typeface="Arial"/>
              <a:buChar char="•"/>
            </a:pPr>
            <a:r>
              <a:rPr b="0" i="0" lang="en-US" sz="2600" u="none" cap="none" strike="noStrike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rPr>
              <a:t>Input image	: 473x473</a:t>
            </a:r>
            <a:endParaRPr/>
          </a:p>
        </p:txBody>
      </p:sp>
      <p:sp>
        <p:nvSpPr>
          <p:cNvPr id="188" name="Google Shape;188;p10"/>
          <p:cNvSpPr txBox="1"/>
          <p:nvPr/>
        </p:nvSpPr>
        <p:spPr>
          <a:xfrm>
            <a:off x="7403505" y="2841806"/>
            <a:ext cx="4112023" cy="1012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00" u="none" cap="none" strike="noStrike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rPr>
              <a:t>Dataset </a:t>
            </a:r>
            <a:endParaRPr/>
          </a:p>
          <a:p>
            <a:pPr indent="-457200" lvl="0" marL="4572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600"/>
              <a:buFont typeface="Arial"/>
              <a:buChar char="•"/>
            </a:pPr>
            <a:r>
              <a:rPr b="0" i="0" lang="en-US" sz="2600" u="none" cap="none" strike="noStrike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rPr>
              <a:t>12,555 images in total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1"/>
          <p:cNvSpPr txBox="1"/>
          <p:nvPr>
            <p:ph type="title"/>
          </p:nvPr>
        </p:nvSpPr>
        <p:spPr>
          <a:xfrm>
            <a:off x="938714" y="327660"/>
            <a:ext cx="11221789" cy="57594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Inter Medium"/>
              <a:buNone/>
            </a:pPr>
            <a:r>
              <a:rPr b="1" lang="en-US" sz="32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rPr>
              <a:t>Verification of GPU training behavior </a:t>
            </a:r>
            <a:endParaRPr/>
          </a:p>
        </p:txBody>
      </p:sp>
      <p:sp>
        <p:nvSpPr>
          <p:cNvPr id="195" name="Google Shape;195;p11"/>
          <p:cNvSpPr txBox="1"/>
          <p:nvPr>
            <p:ph idx="12" type="sldNum"/>
          </p:nvPr>
        </p:nvSpPr>
        <p:spPr>
          <a:xfrm>
            <a:off x="9253181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6" name="Google Shape;196;p11"/>
          <p:cNvSpPr txBox="1"/>
          <p:nvPr>
            <p:ph idx="4294967295" type="body"/>
          </p:nvPr>
        </p:nvSpPr>
        <p:spPr>
          <a:xfrm>
            <a:off x="838199" y="1143001"/>
            <a:ext cx="11032067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/>
              <a:t>PSPNet</a:t>
            </a:r>
            <a:endParaRPr/>
          </a:p>
          <a:p>
            <a:pPr indent="-228600" lvl="1" marL="68580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/>
              <a:t>Results of 5 epoch</a:t>
            </a:r>
            <a:endParaRPr/>
          </a:p>
        </p:txBody>
      </p:sp>
      <p:pic>
        <p:nvPicPr>
          <p:cNvPr descr="飛ぶ, 屋外, 動物, 空気 が含まれている画像&#10;&#10;自動的に生成された説明" id="197" name="Google Shape;197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77100" y="4646952"/>
            <a:ext cx="1923143" cy="192314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鷹の絵&#10;&#10;低い精度で自動的に生成された説明" id="198" name="Google Shape;198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253644" y="2624475"/>
            <a:ext cx="1923143" cy="192314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台の上にある車&#10;&#10;中程度の精度で自動的に生成された説明" id="199" name="Google Shape;199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994411" y="4646953"/>
            <a:ext cx="1923143" cy="192314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屋外, 車, 草, 座る が含まれている画像&#10;&#10;自動的に生成された説明" id="200" name="Google Shape;200;p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994411" y="2624477"/>
            <a:ext cx="1923143" cy="192314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少し, 小さい, 子供, 座る が含まれている画像&#10;&#10;自動的に生成された説明" id="201" name="Google Shape;201;p1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135756" y="4646953"/>
            <a:ext cx="1923143" cy="192314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水の中にいる動物&#10;&#10;低い精度で自動的に生成された説明" id="202" name="Google Shape;202;p1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135756" y="2624476"/>
            <a:ext cx="1923143" cy="192314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滑走路の上を飛ぶ飛行機&#10;&#10;自動的に生成された説明" id="203" name="Google Shape;203;p1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849262" y="4646953"/>
            <a:ext cx="1923143" cy="192314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紫の空を飛ぶ飛行機&#10;&#10;中程度の精度で自動的に生成された説明" id="204" name="Google Shape;204;p11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849262" y="2624477"/>
            <a:ext cx="1923143" cy="1923143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11"/>
          <p:cNvSpPr txBox="1"/>
          <p:nvPr/>
        </p:nvSpPr>
        <p:spPr>
          <a:xfrm>
            <a:off x="2130498" y="2158953"/>
            <a:ext cx="1364476" cy="49834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rPr>
              <a:t>airplane</a:t>
            </a:r>
            <a:endParaRPr b="0" i="0" sz="2400" u="none" cap="none" strike="noStrike">
              <a:solidFill>
                <a:schemeClr val="accent1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206" name="Google Shape;206;p11"/>
          <p:cNvSpPr txBox="1"/>
          <p:nvPr/>
        </p:nvSpPr>
        <p:spPr>
          <a:xfrm>
            <a:off x="4639736" y="2158953"/>
            <a:ext cx="655950" cy="49834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rPr>
              <a:t>car</a:t>
            </a:r>
            <a:endParaRPr b="0" i="0" sz="2400" u="none" cap="none" strike="noStrike">
              <a:solidFill>
                <a:schemeClr val="accent1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207" name="Google Shape;207;p11"/>
          <p:cNvSpPr txBox="1"/>
          <p:nvPr/>
        </p:nvSpPr>
        <p:spPr>
          <a:xfrm>
            <a:off x="6669787" y="2158953"/>
            <a:ext cx="854722" cy="49834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rPr>
              <a:t>boar</a:t>
            </a:r>
            <a:endParaRPr b="0" i="0" sz="2400" u="none" cap="none" strike="noStrike">
              <a:solidFill>
                <a:schemeClr val="accent1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208" name="Google Shape;208;p11"/>
          <p:cNvSpPr txBox="1"/>
          <p:nvPr/>
        </p:nvSpPr>
        <p:spPr>
          <a:xfrm>
            <a:off x="8754191" y="2158953"/>
            <a:ext cx="922048" cy="49834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rPr>
              <a:t>crow</a:t>
            </a:r>
            <a:endParaRPr b="0" i="0" sz="2400" u="none" cap="none" strike="noStrike">
              <a:solidFill>
                <a:schemeClr val="accent1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2"/>
          <p:cNvSpPr txBox="1"/>
          <p:nvPr>
            <p:ph type="title"/>
          </p:nvPr>
        </p:nvSpPr>
        <p:spPr>
          <a:xfrm>
            <a:off x="938714" y="327660"/>
            <a:ext cx="11221789" cy="57594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Inter Medium"/>
              <a:buNone/>
            </a:pPr>
            <a:r>
              <a:rPr lang="en-US"/>
              <a:t>Dataset preparation</a:t>
            </a:r>
            <a:endParaRPr/>
          </a:p>
        </p:txBody>
      </p:sp>
      <p:sp>
        <p:nvSpPr>
          <p:cNvPr id="215" name="Google Shape;215;p12"/>
          <p:cNvSpPr txBox="1"/>
          <p:nvPr>
            <p:ph idx="12" type="sldNum"/>
          </p:nvPr>
        </p:nvSpPr>
        <p:spPr>
          <a:xfrm>
            <a:off x="9253181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6" name="Google Shape;216;p12"/>
          <p:cNvSpPr txBox="1"/>
          <p:nvPr>
            <p:ph idx="4294967295" type="body"/>
          </p:nvPr>
        </p:nvSpPr>
        <p:spPr>
          <a:xfrm>
            <a:off x="838199" y="1143001"/>
            <a:ext cx="11032067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/>
              <a:t>Something-Something V2</a:t>
            </a:r>
            <a:endParaRPr/>
          </a:p>
          <a:p>
            <a:pPr indent="-228600" lvl="1" marL="68580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/>
              <a:t>Moving objects dataset</a:t>
            </a:r>
            <a:endParaRPr/>
          </a:p>
          <a:p>
            <a:pPr indent="-127000" lvl="0" marL="22860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t/>
            </a:r>
            <a:endParaRPr sz="1600"/>
          </a:p>
          <a:p>
            <a:pPr indent="0" lvl="0" marL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rPr lang="en-US"/>
              <a:t>Dataset details</a:t>
            </a:r>
            <a:endParaRPr/>
          </a:p>
        </p:txBody>
      </p:sp>
      <p:pic>
        <p:nvPicPr>
          <p:cNvPr id="217" name="Google Shape;217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67462" y="467155"/>
            <a:ext cx="4486339" cy="4461415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12"/>
          <p:cNvSpPr txBox="1"/>
          <p:nvPr/>
        </p:nvSpPr>
        <p:spPr>
          <a:xfrm>
            <a:off x="712084" y="6497206"/>
            <a:ext cx="6054863" cy="2952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95959"/>
                </a:solidFill>
                <a:latin typeface="Inter Medium"/>
                <a:ea typeface="Inter Medium"/>
                <a:cs typeface="Inter Medium"/>
                <a:sym typeface="Inter Medium"/>
              </a:rPr>
              <a:t>※ https://developer.qualcomm.com/software/ai-datasets/something-something</a:t>
            </a:r>
            <a:endParaRPr b="0" i="0" sz="1200" u="none" cap="none" strike="noStrike">
              <a:solidFill>
                <a:srgbClr val="595959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graphicFrame>
        <p:nvGraphicFramePr>
          <p:cNvPr id="219" name="Google Shape;219;p12"/>
          <p:cNvGraphicFramePr/>
          <p:nvPr/>
        </p:nvGraphicFramePr>
        <p:xfrm>
          <a:off x="938714" y="310240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{EB12F295-6DEA-4762-83C7-B80509122BB3}</a:tableStyleId>
              </a:tblPr>
              <a:tblGrid>
                <a:gridCol w="3404325"/>
                <a:gridCol w="1851700"/>
              </a:tblGrid>
              <a:tr h="416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/>
                        <a:t>Total number of videos</a:t>
                      </a:r>
                      <a:endParaRPr/>
                    </a:p>
                  </a:txBody>
                  <a:tcPr marT="76200" marB="76200" marR="76200" marL="762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/>
                        <a:t>220,847</a:t>
                      </a:r>
                      <a:endParaRPr/>
                    </a:p>
                  </a:txBody>
                  <a:tcPr marT="76200" marB="76200" marR="76200" marL="762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16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/>
                        <a:t>Training Set</a:t>
                      </a:r>
                      <a:endParaRPr/>
                    </a:p>
                  </a:txBody>
                  <a:tcPr marT="76200" marB="76200" marR="76200" marL="762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/>
                        <a:t>168,913</a:t>
                      </a:r>
                      <a:endParaRPr/>
                    </a:p>
                  </a:txBody>
                  <a:tcPr marT="76200" marB="76200" marR="76200" marL="762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16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/>
                        <a:t>Validation Set</a:t>
                      </a:r>
                      <a:endParaRPr/>
                    </a:p>
                  </a:txBody>
                  <a:tcPr marT="76200" marB="76200" marR="76200" marL="762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/>
                        <a:t>24,777</a:t>
                      </a:r>
                      <a:endParaRPr/>
                    </a:p>
                  </a:txBody>
                  <a:tcPr marT="76200" marB="76200" marR="76200" marL="762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16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/>
                        <a:t>Test Set (w/o labels)</a:t>
                      </a:r>
                      <a:endParaRPr/>
                    </a:p>
                  </a:txBody>
                  <a:tcPr marT="76200" marB="76200" marR="76200" marL="762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/>
                        <a:t>27,157</a:t>
                      </a:r>
                      <a:endParaRPr/>
                    </a:p>
                  </a:txBody>
                  <a:tcPr marT="76200" marB="76200" marR="76200" marL="762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16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/>
                        <a:t>Labels</a:t>
                      </a:r>
                      <a:endParaRPr/>
                    </a:p>
                  </a:txBody>
                  <a:tcPr marT="76200" marB="76200" marR="76200" marL="762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/>
                        <a:t>174</a:t>
                      </a:r>
                      <a:endParaRPr/>
                    </a:p>
                  </a:txBody>
                  <a:tcPr marT="76200" marB="76200" marR="76200" marL="762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16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/>
                        <a:t>Quality</a:t>
                      </a:r>
                      <a:endParaRPr/>
                    </a:p>
                  </a:txBody>
                  <a:tcPr marT="76200" marB="76200" marR="76200" marL="762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/>
                        <a:t>100px</a:t>
                      </a:r>
                      <a:endParaRPr/>
                    </a:p>
                  </a:txBody>
                  <a:tcPr marT="76200" marB="76200" marR="76200" marL="762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16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/>
                        <a:t>FPS</a:t>
                      </a:r>
                      <a:endParaRPr/>
                    </a:p>
                  </a:txBody>
                  <a:tcPr marT="76200" marB="76200" marR="76200" marL="762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 u="none" cap="none" strike="noStrike"/>
                        <a:t>12</a:t>
                      </a:r>
                      <a:endParaRPr/>
                    </a:p>
                  </a:txBody>
                  <a:tcPr marT="76200" marB="76200" marR="76200" marL="762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20" name="Google Shape;220;p12"/>
          <p:cNvSpPr txBox="1"/>
          <p:nvPr/>
        </p:nvSpPr>
        <p:spPr>
          <a:xfrm>
            <a:off x="6837821" y="5187659"/>
            <a:ext cx="4515980" cy="9415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✔"/>
            </a:pPr>
            <a:r>
              <a:rPr b="0" i="0" lang="en-US" sz="2400" u="none" cap="none" strike="noStrike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rPr>
              <a:t>Extract frames from videos</a:t>
            </a:r>
            <a:endParaRPr/>
          </a:p>
          <a:p>
            <a:pPr indent="-342900" lvl="0" marL="3429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✔"/>
            </a:pPr>
            <a:r>
              <a:rPr b="0" i="0" lang="en-US" sz="2400" u="none" cap="none" strike="noStrike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rPr>
              <a:t>Resize images</a:t>
            </a:r>
            <a:endParaRPr b="0" i="0" sz="2400" u="none" cap="none" strike="noStrike">
              <a:solidFill>
                <a:schemeClr val="accent1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3"/>
          <p:cNvSpPr txBox="1"/>
          <p:nvPr>
            <p:ph type="title"/>
          </p:nvPr>
        </p:nvSpPr>
        <p:spPr>
          <a:xfrm>
            <a:off x="938714" y="327660"/>
            <a:ext cx="11221789" cy="57594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Inter Medium"/>
              <a:buNone/>
            </a:pPr>
            <a:r>
              <a:rPr lang="en-US"/>
              <a:t>Progress</a:t>
            </a:r>
            <a:endParaRPr/>
          </a:p>
        </p:txBody>
      </p:sp>
      <p:sp>
        <p:nvSpPr>
          <p:cNvPr id="227" name="Google Shape;227;p13"/>
          <p:cNvSpPr txBox="1"/>
          <p:nvPr>
            <p:ph idx="12" type="sldNum"/>
          </p:nvPr>
        </p:nvSpPr>
        <p:spPr>
          <a:xfrm>
            <a:off x="9253181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8" name="Google Shape;228;p13"/>
          <p:cNvSpPr txBox="1"/>
          <p:nvPr>
            <p:ph idx="4294967295" type="body"/>
          </p:nvPr>
        </p:nvSpPr>
        <p:spPr>
          <a:xfrm>
            <a:off x="838199" y="1143001"/>
            <a:ext cx="11032067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/>
              <a:t>Verify Transformer+RTW program on supercomputer</a:t>
            </a:r>
            <a:endParaRPr/>
          </a:p>
          <a:p>
            <a:pPr indent="-152400" lvl="0" marL="22860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rPr lang="en-US"/>
              <a:t>Done</a:t>
            </a:r>
            <a:endParaRPr/>
          </a:p>
          <a:p>
            <a:pPr indent="-228600" lvl="1" marL="68580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Noto Sans Symbols"/>
              <a:buChar char="✔"/>
            </a:pPr>
            <a:r>
              <a:rPr lang="en-US"/>
              <a:t>Verification of GPU training behavior with the PyTorch program (using previous research programs)</a:t>
            </a:r>
            <a:endParaRPr/>
          </a:p>
          <a:p>
            <a:pPr indent="-228600" lvl="1" marL="68580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Noto Sans Symbols"/>
              <a:buChar char="✔"/>
            </a:pPr>
            <a:r>
              <a:rPr lang="en-US"/>
              <a:t>Dataset preparation (Something-Something V2)</a:t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rPr lang="en-US"/>
              <a:t>Next</a:t>
            </a:r>
            <a:endParaRPr/>
          </a:p>
          <a:p>
            <a:pPr indent="-228600" lvl="1" marL="68580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/>
              <a:t>Reproduce Transformer+RTW program and experiment to obtain similar results.</a:t>
            </a:r>
            <a:endParaRPr/>
          </a:p>
          <a:p>
            <a:pPr indent="-228600" lvl="1" marL="68580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/>
              <a:t>Consider application methods</a:t>
            </a:r>
            <a:endParaRPr/>
          </a:p>
          <a:p>
            <a:pPr indent="-228600" lvl="1" marL="68580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3F3F3F"/>
              </a:buClr>
              <a:buSzPts val="2600"/>
              <a:buChar char="•"/>
            </a:pPr>
            <a:r>
              <a:rPr lang="en-US">
                <a:solidFill>
                  <a:srgbClr val="3F3F3F"/>
                </a:solidFill>
              </a:rPr>
              <a:t>                 </a:t>
            </a:r>
            <a:r>
              <a:rPr lang="en-US"/>
              <a:t>Revise paper on research at previous school</a:t>
            </a:r>
            <a:endParaRPr/>
          </a:p>
        </p:txBody>
      </p:sp>
      <p:sp>
        <p:nvSpPr>
          <p:cNvPr id="229" name="Google Shape;229;p13"/>
          <p:cNvSpPr/>
          <p:nvPr/>
        </p:nvSpPr>
        <p:spPr>
          <a:xfrm>
            <a:off x="1637832" y="6050558"/>
            <a:ext cx="1370064" cy="329184"/>
          </a:xfrm>
          <a:prstGeom prst="roundRect">
            <a:avLst>
              <a:gd fmla="val 50000" name="adj"/>
            </a:avLst>
          </a:prstGeom>
          <a:solidFill>
            <a:srgbClr val="D8D8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rPr>
              <a:t>personal</a:t>
            </a:r>
            <a:endParaRPr b="0" i="0" sz="2000" u="none" cap="none" strike="noStrike">
              <a:solidFill>
                <a:schemeClr val="accent1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4"/>
          <p:cNvSpPr txBox="1"/>
          <p:nvPr>
            <p:ph type="title"/>
          </p:nvPr>
        </p:nvSpPr>
        <p:spPr>
          <a:xfrm>
            <a:off x="938714" y="327660"/>
            <a:ext cx="11221789" cy="57594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Inter Medium"/>
              <a:buNone/>
            </a:pPr>
            <a:r>
              <a:rPr lang="en-US"/>
              <a:t>Supercomputer Specs (Pegasus)</a:t>
            </a:r>
            <a:endParaRPr/>
          </a:p>
        </p:txBody>
      </p:sp>
      <p:sp>
        <p:nvSpPr>
          <p:cNvPr id="236" name="Google Shape;236;p14"/>
          <p:cNvSpPr txBox="1"/>
          <p:nvPr>
            <p:ph idx="12" type="sldNum"/>
          </p:nvPr>
        </p:nvSpPr>
        <p:spPr>
          <a:xfrm>
            <a:off x="9253181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37" name="Google Shape;237;p14"/>
          <p:cNvSpPr txBox="1"/>
          <p:nvPr>
            <p:ph idx="4294967295" type="body"/>
          </p:nvPr>
        </p:nvSpPr>
        <p:spPr>
          <a:xfrm>
            <a:off x="838199" y="1143001"/>
            <a:ext cx="11032067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3500" lvl="0" marL="2286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t/>
            </a:r>
            <a:endParaRPr/>
          </a:p>
        </p:txBody>
      </p:sp>
      <p:pic>
        <p:nvPicPr>
          <p:cNvPr descr="テーブル&#10;&#10;自動的に生成された説明" id="238" name="Google Shape;238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56606" y="1143001"/>
            <a:ext cx="8624207" cy="286346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テーブル&#10;&#10;自動的に生成された説明" id="239" name="Google Shape;239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56606" y="4448468"/>
            <a:ext cx="8096575" cy="1907882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14"/>
          <p:cNvSpPr txBox="1"/>
          <p:nvPr/>
        </p:nvSpPr>
        <p:spPr>
          <a:xfrm>
            <a:off x="1249740" y="4106348"/>
            <a:ext cx="2087431" cy="4378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rPr>
              <a:t>▼ NVIDIA H100</a:t>
            </a:r>
            <a:endParaRPr b="0" i="0" sz="2000" u="none" cap="none" strike="noStrike">
              <a:solidFill>
                <a:schemeClr val="accent1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テーマ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heme_2022_1017">
  <a:themeElements>
    <a:clrScheme name="2022_0619v">
      <a:dk1>
        <a:srgbClr val="000000"/>
      </a:dk1>
      <a:lt1>
        <a:srgbClr val="FFFFFF"/>
      </a:lt1>
      <a:dk2>
        <a:srgbClr val="098B8D"/>
      </a:dk2>
      <a:lt2>
        <a:srgbClr val="ED7A1D"/>
      </a:lt2>
      <a:accent1>
        <a:srgbClr val="323232"/>
      </a:accent1>
      <a:accent2>
        <a:srgbClr val="0BADB1"/>
      </a:accent2>
      <a:accent3>
        <a:srgbClr val="7CD5DE"/>
      </a:accent3>
      <a:accent4>
        <a:srgbClr val="187CBA"/>
      </a:accent4>
      <a:accent5>
        <a:srgbClr val="1CADE4"/>
      </a:accent5>
      <a:accent6>
        <a:srgbClr val="F28E16"/>
      </a:accent6>
      <a:hlink>
        <a:srgbClr val="098B8D"/>
      </a:hlink>
      <a:folHlink>
        <a:srgbClr val="04454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2024-07-22T16:50:03Z</dcterms:created>
  <dc:creator>岡村 一矢</dc:creator>
</cp:coreProperties>
</file>