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1"/>
  </p:sldMasterIdLst>
  <p:notesMasterIdLst>
    <p:notesMasterId r:id="rId12"/>
  </p:notesMasterIdLst>
  <p:handoutMasterIdLst>
    <p:handoutMasterId r:id="rId13"/>
  </p:handoutMasterIdLst>
  <p:sldIdLst>
    <p:sldId id="256" r:id="rId2"/>
    <p:sldId id="273" r:id="rId3"/>
    <p:sldId id="275" r:id="rId4"/>
    <p:sldId id="277" r:id="rId5"/>
    <p:sldId id="278" r:id="rId6"/>
    <p:sldId id="281" r:id="rId7"/>
    <p:sldId id="279" r:id="rId8"/>
    <p:sldId id="276" r:id="rId9"/>
    <p:sldId id="280" r:id="rId10"/>
    <p:sldId id="282" r:id="rId1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1A2F"/>
    <a:srgbClr val="7A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239" autoAdjust="0"/>
    <p:restoredTop sz="82868" autoAdjust="0"/>
  </p:normalViewPr>
  <p:slideViewPr>
    <p:cSldViewPr snapToGrid="0">
      <p:cViewPr varScale="1">
        <p:scale>
          <a:sx n="73" d="100"/>
          <a:sy n="73" d="100"/>
        </p:scale>
        <p:origin x="1243" y="72"/>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452F19F7-1066-8AC8-666F-18FCC839F42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AF4B29BC-EBDF-4BF6-F1F8-332B7C276E2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3F98DD7-F0CA-4392-97DB-FA1B6F34552E}" type="datetimeFigureOut">
              <a:rPr kumimoji="1" lang="ja-JP" altLang="en-US" smtClean="0"/>
              <a:t>2024/8/1</a:t>
            </a:fld>
            <a:endParaRPr kumimoji="1" lang="ja-JP" altLang="en-US"/>
          </a:p>
        </p:txBody>
      </p:sp>
      <p:sp>
        <p:nvSpPr>
          <p:cNvPr id="4" name="フッター プレースホルダー 3">
            <a:extLst>
              <a:ext uri="{FF2B5EF4-FFF2-40B4-BE49-F238E27FC236}">
                <a16:creationId xmlns:a16="http://schemas.microsoft.com/office/drawing/2014/main" id="{B9D8532E-54CF-3B48-AC3C-4DF7F07276F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BF28598E-1B72-81DF-E188-25563EB9F16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93DBC7-D161-46D6-9925-C1BAFB1DBD7E}" type="slidenum">
              <a:rPr kumimoji="1" lang="ja-JP" altLang="en-US" smtClean="0"/>
              <a:t>‹#›</a:t>
            </a:fld>
            <a:endParaRPr kumimoji="1" lang="ja-JP" altLang="en-US"/>
          </a:p>
        </p:txBody>
      </p:sp>
    </p:spTree>
    <p:extLst>
      <p:ext uri="{BB962C8B-B14F-4D97-AF65-F5344CB8AC3E}">
        <p14:creationId xmlns:p14="http://schemas.microsoft.com/office/powerpoint/2010/main" val="52238225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67F8AC-0F6E-4BBB-9623-5DA9A58050FD}" type="datetimeFigureOut">
              <a:rPr kumimoji="1" lang="ja-JP" altLang="en-US" smtClean="0"/>
              <a:t>2024/8/1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69E0B8-B93C-4438-B694-778A1A7FDD34}" type="slidenum">
              <a:rPr kumimoji="1" lang="ja-JP" altLang="en-US" smtClean="0"/>
              <a:t>‹#›</a:t>
            </a:fld>
            <a:endParaRPr kumimoji="1" lang="ja-JP" altLang="en-US"/>
          </a:p>
        </p:txBody>
      </p:sp>
    </p:spTree>
    <p:extLst>
      <p:ext uri="{BB962C8B-B14F-4D97-AF65-F5344CB8AC3E}">
        <p14:creationId xmlns:p14="http://schemas.microsoft.com/office/powerpoint/2010/main" val="62537546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Tree>
    <p:extLst>
      <p:ext uri="{BB962C8B-B14F-4D97-AF65-F5344CB8AC3E}">
        <p14:creationId xmlns:p14="http://schemas.microsoft.com/office/powerpoint/2010/main" val="35479218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Tree>
    <p:extLst>
      <p:ext uri="{BB962C8B-B14F-4D97-AF65-F5344CB8AC3E}">
        <p14:creationId xmlns:p14="http://schemas.microsoft.com/office/powerpoint/2010/main" val="18450303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Tree>
    <p:extLst>
      <p:ext uri="{BB962C8B-B14F-4D97-AF65-F5344CB8AC3E}">
        <p14:creationId xmlns:p14="http://schemas.microsoft.com/office/powerpoint/2010/main" val="19733729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p:cNvSpPr>
                <a:spLocks noGrp="1"/>
              </p:cNvSpPr>
              <p:nvPr>
                <p:ph type="body" idx="1"/>
              </p:nvPr>
            </p:nvSpPr>
            <p:spPr/>
            <p:txBody>
              <a:bodyPr/>
              <a:lstStyle/>
              <a:p>
                <a:pPr>
                  <a:buFont typeface="+mj-lt"/>
                  <a:buAutoNum type="arabicPeriod"/>
                </a:pPr>
                <a:r>
                  <a:rPr lang="ja-JP" altLang="en-US" dirty="0"/>
                  <a:t>データからサンプル </a:t>
                </a:r>
                <a14:m>
                  <m:oMath xmlns:m="http://schemas.openxmlformats.org/officeDocument/2006/math">
                    <m:sSub>
                      <m:sSubPr>
                        <m:ctrlPr>
                          <a:rPr lang="en-US" altLang="ja-JP" i="1" smtClean="0">
                            <a:latin typeface="Cambria Math" panose="02040503050406030204" pitchFamily="18" charset="0"/>
                            <a:ea typeface="Yu Gothic UI Semibold" panose="020B0700000000000000" pitchFamily="50" charset="-128"/>
                          </a:rPr>
                        </m:ctrlPr>
                      </m:sSubPr>
                      <m:e>
                        <m:r>
                          <a:rPr lang="en-US" altLang="ja-JP" b="0" i="1" smtClean="0">
                            <a:latin typeface="Cambria Math" panose="02040503050406030204" pitchFamily="18" charset="0"/>
                            <a:ea typeface="Yu Gothic UI Semibold" panose="020B0700000000000000" pitchFamily="50" charset="-128"/>
                          </a:rPr>
                          <m:t>𝑥</m:t>
                        </m:r>
                      </m:e>
                      <m:sub>
                        <m:r>
                          <a:rPr lang="en-US" altLang="ja-JP" b="0" i="1" smtClean="0">
                            <a:latin typeface="Cambria Math" panose="02040503050406030204" pitchFamily="18" charset="0"/>
                            <a:ea typeface="Yu Gothic UI Semibold" panose="020B0700000000000000" pitchFamily="50" charset="-128"/>
                          </a:rPr>
                          <m:t>0</m:t>
                        </m:r>
                      </m:sub>
                    </m:sSub>
                  </m:oMath>
                </a14:m>
                <a:r>
                  <a:rPr lang="ja-JP" altLang="en-US" dirty="0"/>
                  <a:t> を取得し、任意のタイムステップ </a:t>
                </a:r>
                <a:r>
                  <a:rPr lang="en-US" altLang="ja-JP" dirty="0"/>
                  <a:t>t </a:t>
                </a:r>
                <a:r>
                  <a:rPr lang="ja-JP" altLang="en-US" dirty="0"/>
                  <a:t>を選び、ガウスノイズ </a:t>
                </a:r>
                <a:r>
                  <a:rPr lang="en-US" altLang="ja-JP" dirty="0"/>
                  <a:t>ϵ</a:t>
                </a:r>
                <a:r>
                  <a:rPr lang="ja-JP" altLang="en-US" dirty="0"/>
                  <a:t>を生成します。</a:t>
                </a: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14:m>
                  <m:oMath xmlns:m="http://schemas.openxmlformats.org/officeDocument/2006/math">
                    <m:sSub>
                      <m:sSubPr>
                        <m:ctrlPr>
                          <a:rPr lang="en-US" altLang="ja-JP" i="1" smtClean="0">
                            <a:latin typeface="Cambria Math" panose="02040503050406030204" pitchFamily="18" charset="0"/>
                            <a:ea typeface="Yu Gothic UI Semibold" panose="020B0700000000000000" pitchFamily="50" charset="-128"/>
                          </a:rPr>
                        </m:ctrlPr>
                      </m:sSubPr>
                      <m:e>
                        <m:r>
                          <a:rPr lang="en-US" altLang="ja-JP" b="0" i="1" smtClean="0">
                            <a:latin typeface="Cambria Math" panose="02040503050406030204" pitchFamily="18" charset="0"/>
                            <a:ea typeface="Yu Gothic UI Semibold" panose="020B0700000000000000" pitchFamily="50" charset="-128"/>
                          </a:rPr>
                          <m:t>𝑥</m:t>
                        </m:r>
                      </m:e>
                      <m:sub>
                        <m:r>
                          <a:rPr lang="en-US" altLang="ja-JP" b="0" i="1" smtClean="0">
                            <a:latin typeface="Cambria Math" panose="02040503050406030204" pitchFamily="18" charset="0"/>
                            <a:ea typeface="Yu Gothic UI Semibold" panose="020B0700000000000000" pitchFamily="50" charset="-128"/>
                          </a:rPr>
                          <m:t>0</m:t>
                        </m:r>
                      </m:sub>
                    </m:sSub>
                  </m:oMath>
                </a14:m>
                <a:r>
                  <a:rPr lang="en-US" altLang="ja-JP" dirty="0">
                    <a:latin typeface="Yu Gothic UI Semibold" panose="020B0700000000000000" pitchFamily="50" charset="-128"/>
                    <a:ea typeface="Yu Gothic UI Semibold" panose="020B0700000000000000" pitchFamily="50" charset="-128"/>
                  </a:rPr>
                  <a:t> </a:t>
                </a:r>
                <a:r>
                  <a:rPr lang="en-US" altLang="ja-JP" dirty="0"/>
                  <a:t>​ </a:t>
                </a:r>
                <a:r>
                  <a:rPr lang="ja-JP" altLang="en-US" dirty="0"/>
                  <a:t>と </a:t>
                </a:r>
                <a:r>
                  <a:rPr lang="en-US" altLang="ja-JP" dirty="0"/>
                  <a:t>ϵ</a:t>
                </a:r>
                <a:r>
                  <a:rPr lang="ja-JP" altLang="en-US" dirty="0"/>
                  <a:t>を使って、ノイズ付加データ </a:t>
                </a:r>
                <a14:m>
                  <m:oMath xmlns:m="http://schemas.openxmlformats.org/officeDocument/2006/math">
                    <m:rad>
                      <m:radPr>
                        <m:degHide m:val="on"/>
                        <m:ctrlPr>
                          <a:rPr lang="ja-JP" altLang="en-US" i="1" smtClean="0">
                            <a:latin typeface="Cambria Math" panose="02040503050406030204" pitchFamily="18" charset="0"/>
                            <a:ea typeface="Yu Gothic UI Semibold" panose="020B0700000000000000" pitchFamily="50" charset="-128"/>
                          </a:rPr>
                        </m:ctrlPr>
                      </m:radPr>
                      <m:deg/>
                      <m:e>
                        <m:acc>
                          <m:accPr>
                            <m:chr m:val="̅"/>
                            <m:ctrlPr>
                              <a:rPr lang="ja-JP" altLang="en-US" i="1" smtClean="0">
                                <a:latin typeface="Cambria Math" panose="02040503050406030204" pitchFamily="18" charset="0"/>
                                <a:ea typeface="Yu Gothic UI Semibold" panose="020B0700000000000000" pitchFamily="50" charset="-128"/>
                              </a:rPr>
                            </m:ctrlPr>
                          </m:accPr>
                          <m:e>
                            <m:sSub>
                              <m:sSubPr>
                                <m:ctrlPr>
                                  <a:rPr lang="en-US" altLang="ja-JP" i="1" smtClean="0">
                                    <a:latin typeface="Cambria Math" panose="02040503050406030204" pitchFamily="18" charset="0"/>
                                    <a:ea typeface="Yu Gothic UI Semibold" panose="020B0700000000000000" pitchFamily="50" charset="-128"/>
                                  </a:rPr>
                                </m:ctrlPr>
                              </m:sSubPr>
                              <m:e>
                                <m:r>
                                  <a:rPr lang="en-US" altLang="ja-JP" b="0" i="1" smtClean="0">
                                    <a:latin typeface="Cambria Math" panose="02040503050406030204" pitchFamily="18" charset="0"/>
                                    <a:ea typeface="Yu Gothic UI Semibold" panose="020B0700000000000000" pitchFamily="50" charset="-128"/>
                                  </a:rPr>
                                  <m:t>𝑎</m:t>
                                </m:r>
                              </m:e>
                              <m:sub>
                                <m:r>
                                  <a:rPr lang="en-US" altLang="ja-JP" b="0" i="1" smtClean="0">
                                    <a:latin typeface="Cambria Math" panose="02040503050406030204" pitchFamily="18" charset="0"/>
                                    <a:ea typeface="Yu Gothic UI Semibold" panose="020B0700000000000000" pitchFamily="50" charset="-128"/>
                                  </a:rPr>
                                  <m:t>𝑡</m:t>
                                </m:r>
                              </m:sub>
                            </m:sSub>
                          </m:e>
                        </m:acc>
                      </m:e>
                    </m:rad>
                    <m:sSub>
                      <m:sSubPr>
                        <m:ctrlPr>
                          <a:rPr lang="en-US" altLang="ja-JP" i="1" smtClean="0">
                            <a:latin typeface="Cambria Math" panose="02040503050406030204" pitchFamily="18" charset="0"/>
                            <a:ea typeface="Yu Gothic UI Semibold" panose="020B0700000000000000" pitchFamily="50" charset="-128"/>
                          </a:rPr>
                        </m:ctrlPr>
                      </m:sSubPr>
                      <m:e>
                        <m:r>
                          <a:rPr lang="en-US" altLang="ja-JP" b="0" i="1" smtClean="0">
                            <a:latin typeface="Cambria Math" panose="02040503050406030204" pitchFamily="18" charset="0"/>
                            <a:ea typeface="Yu Gothic UI Semibold" panose="020B0700000000000000" pitchFamily="50" charset="-128"/>
                          </a:rPr>
                          <m:t>𝑥</m:t>
                        </m:r>
                      </m:e>
                      <m:sub>
                        <m:r>
                          <a:rPr lang="en-US" altLang="ja-JP" b="0" i="1" smtClean="0">
                            <a:latin typeface="Cambria Math" panose="02040503050406030204" pitchFamily="18" charset="0"/>
                            <a:ea typeface="Yu Gothic UI Semibold" panose="020B0700000000000000" pitchFamily="50" charset="-128"/>
                          </a:rPr>
                          <m:t>0</m:t>
                        </m:r>
                      </m:sub>
                    </m:sSub>
                    <m:r>
                      <a:rPr lang="en-US" altLang="ja-JP" b="0" i="1" smtClean="0">
                        <a:latin typeface="Cambria Math" panose="02040503050406030204" pitchFamily="18" charset="0"/>
                        <a:ea typeface="Yu Gothic UI Semibold" panose="020B0700000000000000" pitchFamily="50" charset="-128"/>
                      </a:rPr>
                      <m:t>+</m:t>
                    </m:r>
                    <m:rad>
                      <m:radPr>
                        <m:degHide m:val="on"/>
                        <m:ctrlPr>
                          <a:rPr lang="ja-JP" altLang="en-US" i="1">
                            <a:latin typeface="Cambria Math" panose="02040503050406030204" pitchFamily="18" charset="0"/>
                            <a:ea typeface="Yu Gothic UI Semibold" panose="020B0700000000000000" pitchFamily="50" charset="-128"/>
                          </a:rPr>
                        </m:ctrlPr>
                      </m:radPr>
                      <m:deg/>
                      <m:e>
                        <m:r>
                          <a:rPr lang="en-US" altLang="ja-JP" b="0" i="1" smtClean="0">
                            <a:latin typeface="Cambria Math" panose="02040503050406030204" pitchFamily="18" charset="0"/>
                            <a:ea typeface="Yu Gothic UI Semibold" panose="020B0700000000000000" pitchFamily="50" charset="-128"/>
                          </a:rPr>
                          <m:t>1−</m:t>
                        </m:r>
                        <m:acc>
                          <m:accPr>
                            <m:chr m:val="̅"/>
                            <m:ctrlPr>
                              <a:rPr lang="ja-JP" altLang="en-US" i="1">
                                <a:latin typeface="Cambria Math" panose="02040503050406030204" pitchFamily="18" charset="0"/>
                                <a:ea typeface="Yu Gothic UI Semibold" panose="020B0700000000000000" pitchFamily="50" charset="-128"/>
                              </a:rPr>
                            </m:ctrlPr>
                          </m:accPr>
                          <m:e>
                            <m:sSub>
                              <m:sSubPr>
                                <m:ctrlPr>
                                  <a:rPr lang="en-US" altLang="ja-JP" i="1">
                                    <a:latin typeface="Cambria Math" panose="02040503050406030204" pitchFamily="18" charset="0"/>
                                    <a:ea typeface="Yu Gothic UI Semibold" panose="020B0700000000000000" pitchFamily="50" charset="-128"/>
                                  </a:rPr>
                                </m:ctrlPr>
                              </m:sSubPr>
                              <m:e>
                                <m:r>
                                  <a:rPr lang="en-US" altLang="ja-JP" i="1">
                                    <a:latin typeface="Cambria Math" panose="02040503050406030204" pitchFamily="18" charset="0"/>
                                    <a:ea typeface="Yu Gothic UI Semibold" panose="020B0700000000000000" pitchFamily="50" charset="-128"/>
                                  </a:rPr>
                                  <m:t>𝑎</m:t>
                                </m:r>
                              </m:e>
                              <m:sub>
                                <m:r>
                                  <a:rPr lang="en-US" altLang="ja-JP" i="1">
                                    <a:latin typeface="Cambria Math" panose="02040503050406030204" pitchFamily="18" charset="0"/>
                                    <a:ea typeface="Yu Gothic UI Semibold" panose="020B0700000000000000" pitchFamily="50" charset="-128"/>
                                  </a:rPr>
                                  <m:t>𝑡</m:t>
                                </m:r>
                              </m:sub>
                            </m:sSub>
                          </m:e>
                        </m:acc>
                      </m:e>
                    </m:rad>
                    <m:r>
                      <a:rPr lang="ja-JP" altLang="en-US" i="1" smtClean="0">
                        <a:latin typeface="Cambria Math" panose="02040503050406030204" pitchFamily="18" charset="0"/>
                        <a:ea typeface="Yu Gothic UI Semibold" panose="020B0700000000000000" pitchFamily="50" charset="-128"/>
                      </a:rPr>
                      <m:t>𝜖</m:t>
                    </m:r>
                  </m:oMath>
                </a14:m>
                <a:r>
                  <a:rPr lang="en-US" altLang="ja-JP" dirty="0"/>
                  <a:t> </a:t>
                </a:r>
                <a:r>
                  <a:rPr lang="ja-JP" altLang="en-US" dirty="0"/>
                  <a:t>を作成します。</a:t>
                </a:r>
              </a:p>
              <a:p>
                <a:pPr>
                  <a:buFont typeface="+mj-lt"/>
                  <a:buAutoNum type="arabicPeriod"/>
                </a:pPr>
                <a:r>
                  <a:rPr lang="ja-JP" altLang="en-US" dirty="0"/>
                  <a:t>これをネットワーク </a:t>
                </a:r>
                <a:r>
                  <a:rPr lang="en-US" altLang="ja-JP" dirty="0"/>
                  <a:t>ϵθ​ </a:t>
                </a:r>
                <a:r>
                  <a:rPr lang="ja-JP" altLang="en-US" dirty="0"/>
                  <a:t>に入力し、予測されたノイズと実際のノイズとの誤差を計算します。</a:t>
                </a:r>
              </a:p>
              <a:p>
                <a:pPr>
                  <a:buFont typeface="+mj-lt"/>
                  <a:buAutoNum type="arabicPeriod"/>
                </a:pPr>
                <a:r>
                  <a:rPr lang="ja-JP" altLang="en-US" dirty="0"/>
                  <a:t>勾配降下法を用いてこの誤差を最小化するようにネットワークのパラメータを更新します。</a:t>
                </a:r>
              </a:p>
              <a:p>
                <a:r>
                  <a:rPr lang="ja-JP" altLang="en-US" dirty="0"/>
                  <a:t>このアルゴリズムは、ノイズ除去の精度を最大化するために対数尤度を最大化する方向でモデルを学習させるプロセスを示しています。</a:t>
                </a:r>
              </a:p>
              <a:p>
                <a:endParaRPr kumimoji="1" lang="ja-JP" altLang="en-US" dirty="0"/>
              </a:p>
            </p:txBody>
          </p:sp>
        </mc:Choice>
        <mc:Fallback xmlns="">
          <p:sp>
            <p:nvSpPr>
              <p:cNvPr id="3" name="ノート プレースホルダー 2"/>
              <p:cNvSpPr>
                <a:spLocks noGrp="1"/>
              </p:cNvSpPr>
              <p:nvPr>
                <p:ph type="body" idx="1"/>
              </p:nvPr>
            </p:nvSpPr>
            <p:spPr/>
            <p:txBody>
              <a:bodyPr/>
              <a:lstStyle/>
              <a:p>
                <a:pPr>
                  <a:buFont typeface="+mj-lt"/>
                  <a:buAutoNum type="arabicPeriod"/>
                </a:pPr>
                <a:r>
                  <a:rPr lang="ja-JP" altLang="en-US" dirty="0"/>
                  <a:t>データからサンプル </a:t>
                </a:r>
                <a:r>
                  <a:rPr lang="en-US" altLang="ja-JP" b="0" i="0">
                    <a:latin typeface="Cambria Math" panose="02040503050406030204" pitchFamily="18" charset="0"/>
                    <a:ea typeface="Yu Gothic UI Semibold" panose="020B0700000000000000" pitchFamily="50" charset="-128"/>
                  </a:rPr>
                  <a:t>𝑥_0</a:t>
                </a:r>
                <a:r>
                  <a:rPr lang="ja-JP" altLang="en-US" dirty="0"/>
                  <a:t> を取得し、任意のタイムステップ </a:t>
                </a:r>
                <a:r>
                  <a:rPr lang="en-US" altLang="ja-JP" dirty="0"/>
                  <a:t>t </a:t>
                </a:r>
                <a:r>
                  <a:rPr lang="ja-JP" altLang="en-US" dirty="0"/>
                  <a:t>を選び、ガウスノイズ </a:t>
                </a:r>
                <a:r>
                  <a:rPr lang="en-US" altLang="ja-JP" dirty="0"/>
                  <a:t>ϵ</a:t>
                </a:r>
                <a:r>
                  <a:rPr lang="ja-JP" altLang="en-US" dirty="0"/>
                  <a:t>を生成します。</a:t>
                </a: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lang="en-US" altLang="ja-JP" b="0" i="0">
                    <a:latin typeface="Cambria Math" panose="02040503050406030204" pitchFamily="18" charset="0"/>
                    <a:ea typeface="Yu Gothic UI Semibold" panose="020B0700000000000000" pitchFamily="50" charset="-128"/>
                  </a:rPr>
                  <a:t>𝑥_0</a:t>
                </a:r>
                <a:r>
                  <a:rPr lang="en-US" altLang="ja-JP" dirty="0">
                    <a:latin typeface="Yu Gothic UI Semibold" panose="020B0700000000000000" pitchFamily="50" charset="-128"/>
                    <a:ea typeface="Yu Gothic UI Semibold" panose="020B0700000000000000" pitchFamily="50" charset="-128"/>
                  </a:rPr>
                  <a:t> </a:t>
                </a:r>
                <a:r>
                  <a:rPr lang="en-US" altLang="ja-JP" dirty="0"/>
                  <a:t>​ </a:t>
                </a:r>
                <a:r>
                  <a:rPr lang="ja-JP" altLang="en-US" dirty="0"/>
                  <a:t>と </a:t>
                </a:r>
                <a:r>
                  <a:rPr lang="en-US" altLang="ja-JP" dirty="0"/>
                  <a:t>ϵ</a:t>
                </a:r>
                <a:r>
                  <a:rPr lang="ja-JP" altLang="en-US" dirty="0"/>
                  <a:t>を使って、ノイズ付加データ </a:t>
                </a:r>
                <a:r>
                  <a:rPr lang="ja-JP" altLang="en-US" i="0">
                    <a:latin typeface="Cambria Math" panose="02040503050406030204" pitchFamily="18" charset="0"/>
                    <a:ea typeface="Yu Gothic UI Semibold" panose="020B0700000000000000" pitchFamily="50" charset="-128"/>
                  </a:rPr>
                  <a:t>√((</a:t>
                </a:r>
                <a:r>
                  <a:rPr lang="en-US" altLang="ja-JP" b="0" i="0">
                    <a:latin typeface="Cambria Math" panose="02040503050406030204" pitchFamily="18" charset="0"/>
                    <a:ea typeface="Yu Gothic UI Semibold" panose="020B0700000000000000" pitchFamily="50" charset="-128"/>
                  </a:rPr>
                  <a:t>𝑎_𝑡 </a:t>
                </a:r>
                <a:r>
                  <a:rPr lang="ja-JP" altLang="en-US" b="0" i="0">
                    <a:latin typeface="Cambria Math" panose="02040503050406030204" pitchFamily="18" charset="0"/>
                    <a:ea typeface="Yu Gothic UI Semibold" panose="020B0700000000000000" pitchFamily="50" charset="-128"/>
                  </a:rPr>
                  <a:t>) ̅</a:t>
                </a:r>
                <a:r>
                  <a:rPr lang="en-US" altLang="ja-JP" b="0" i="0">
                    <a:latin typeface="Cambria Math" panose="02040503050406030204" pitchFamily="18" charset="0"/>
                    <a:ea typeface="Yu Gothic UI Semibold" panose="020B0700000000000000" pitchFamily="50" charset="-128"/>
                  </a:rPr>
                  <a:t> </a:t>
                </a:r>
                <a:r>
                  <a:rPr lang="ja-JP" altLang="en-US" b="0" i="0">
                    <a:latin typeface="Cambria Math" panose="02040503050406030204" pitchFamily="18" charset="0"/>
                    <a:ea typeface="Yu Gothic UI Semibold" panose="020B0700000000000000" pitchFamily="50" charset="-128"/>
                  </a:rPr>
                  <a:t>)</a:t>
                </a:r>
                <a:r>
                  <a:rPr lang="en-US" altLang="ja-JP" b="0" i="0">
                    <a:latin typeface="Cambria Math" panose="02040503050406030204" pitchFamily="18" charset="0"/>
                    <a:ea typeface="Yu Gothic UI Semibold" panose="020B0700000000000000" pitchFamily="50" charset="-128"/>
                  </a:rPr>
                  <a:t> 𝑥_0+</a:t>
                </a:r>
                <a:r>
                  <a:rPr lang="ja-JP" altLang="en-US" i="0">
                    <a:latin typeface="Cambria Math" panose="02040503050406030204" pitchFamily="18" charset="0"/>
                    <a:ea typeface="Yu Gothic UI Semibold" panose="020B0700000000000000" pitchFamily="50" charset="-128"/>
                  </a:rPr>
                  <a:t>√(</a:t>
                </a:r>
                <a:r>
                  <a:rPr lang="en-US" altLang="ja-JP" b="0" i="0">
                    <a:latin typeface="Cambria Math" panose="02040503050406030204" pitchFamily="18" charset="0"/>
                    <a:ea typeface="Yu Gothic UI Semibold" panose="020B0700000000000000" pitchFamily="50" charset="-128"/>
                  </a:rPr>
                  <a:t>1−</a:t>
                </a:r>
                <a:r>
                  <a:rPr lang="ja-JP" altLang="en-US" b="0" i="0">
                    <a:latin typeface="Cambria Math" panose="02040503050406030204" pitchFamily="18" charset="0"/>
                    <a:ea typeface="Yu Gothic UI Semibold" panose="020B0700000000000000" pitchFamily="50" charset="-128"/>
                  </a:rPr>
                  <a:t>(</a:t>
                </a:r>
                <a:r>
                  <a:rPr lang="en-US" altLang="ja-JP" i="0">
                    <a:latin typeface="Cambria Math" panose="02040503050406030204" pitchFamily="18" charset="0"/>
                    <a:ea typeface="Yu Gothic UI Semibold" panose="020B0700000000000000" pitchFamily="50" charset="-128"/>
                  </a:rPr>
                  <a:t>𝑎_𝑡 </a:t>
                </a:r>
                <a:r>
                  <a:rPr lang="ja-JP" altLang="en-US" i="0">
                    <a:latin typeface="Cambria Math" panose="02040503050406030204" pitchFamily="18" charset="0"/>
                    <a:ea typeface="Yu Gothic UI Semibold" panose="020B0700000000000000" pitchFamily="50" charset="-128"/>
                  </a:rPr>
                  <a:t>) ̅</a:t>
                </a:r>
                <a:r>
                  <a:rPr lang="en-US" altLang="ja-JP" i="0">
                    <a:latin typeface="Cambria Math" panose="02040503050406030204" pitchFamily="18" charset="0"/>
                    <a:ea typeface="Yu Gothic UI Semibold" panose="020B0700000000000000" pitchFamily="50" charset="-128"/>
                  </a:rPr>
                  <a:t> </a:t>
                </a:r>
                <a:r>
                  <a:rPr lang="ja-JP" altLang="en-US" i="0">
                    <a:latin typeface="Cambria Math" panose="02040503050406030204" pitchFamily="18" charset="0"/>
                    <a:ea typeface="Yu Gothic UI Semibold" panose="020B0700000000000000" pitchFamily="50" charset="-128"/>
                  </a:rPr>
                  <a:t>) 𝜖</a:t>
                </a:r>
                <a:r>
                  <a:rPr lang="en-US" altLang="ja-JP" dirty="0"/>
                  <a:t> </a:t>
                </a:r>
                <a:r>
                  <a:rPr lang="ja-JP" altLang="en-US" dirty="0"/>
                  <a:t>を作成します。</a:t>
                </a:r>
              </a:p>
              <a:p>
                <a:pPr>
                  <a:buFont typeface="+mj-lt"/>
                  <a:buAutoNum type="arabicPeriod"/>
                </a:pPr>
                <a:r>
                  <a:rPr lang="ja-JP" altLang="en-US" dirty="0"/>
                  <a:t>これをネットワーク </a:t>
                </a:r>
                <a:r>
                  <a:rPr lang="en-US" altLang="ja-JP" dirty="0"/>
                  <a:t>ϵθ​ </a:t>
                </a:r>
                <a:r>
                  <a:rPr lang="ja-JP" altLang="en-US" dirty="0"/>
                  <a:t>に入力し、予測されたノイズと実際のノイズとの誤差を計算します。</a:t>
                </a:r>
              </a:p>
              <a:p>
                <a:pPr>
                  <a:buFont typeface="+mj-lt"/>
                  <a:buAutoNum type="arabicPeriod"/>
                </a:pPr>
                <a:r>
                  <a:rPr lang="ja-JP" altLang="en-US" dirty="0"/>
                  <a:t>勾配降下法を用いてこの誤差を最小化するようにネットワークのパラメータを更新します。</a:t>
                </a:r>
              </a:p>
              <a:p>
                <a:r>
                  <a:rPr lang="ja-JP" altLang="en-US" dirty="0"/>
                  <a:t>このアルゴリズムは、ノイズ除去の精度を最大化するために対数尤度を最大化する方向でモデルを学習させるプロセスを示しています。</a:t>
                </a:r>
              </a:p>
              <a:p>
                <a:endParaRPr kumimoji="1" lang="ja-JP" altLang="en-US" dirty="0"/>
              </a:p>
            </p:txBody>
          </p:sp>
        </mc:Fallback>
      </mc:AlternateContent>
    </p:spTree>
    <p:extLst>
      <p:ext uri="{BB962C8B-B14F-4D97-AF65-F5344CB8AC3E}">
        <p14:creationId xmlns:p14="http://schemas.microsoft.com/office/powerpoint/2010/main" val="18470996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Tree>
    <p:extLst>
      <p:ext uri="{BB962C8B-B14F-4D97-AF65-F5344CB8AC3E}">
        <p14:creationId xmlns:p14="http://schemas.microsoft.com/office/powerpoint/2010/main" val="24373539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Tree>
    <p:extLst>
      <p:ext uri="{BB962C8B-B14F-4D97-AF65-F5344CB8AC3E}">
        <p14:creationId xmlns:p14="http://schemas.microsoft.com/office/powerpoint/2010/main" val="13025426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Tree>
    <p:extLst>
      <p:ext uri="{BB962C8B-B14F-4D97-AF65-F5344CB8AC3E}">
        <p14:creationId xmlns:p14="http://schemas.microsoft.com/office/powerpoint/2010/main" val="42844558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Tree>
    <p:extLst>
      <p:ext uri="{BB962C8B-B14F-4D97-AF65-F5344CB8AC3E}">
        <p14:creationId xmlns:p14="http://schemas.microsoft.com/office/powerpoint/2010/main" val="36095506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Tree>
    <p:extLst>
      <p:ext uri="{BB962C8B-B14F-4D97-AF65-F5344CB8AC3E}">
        <p14:creationId xmlns:p14="http://schemas.microsoft.com/office/powerpoint/2010/main" val="25727287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Tree>
    <p:extLst>
      <p:ext uri="{BB962C8B-B14F-4D97-AF65-F5344CB8AC3E}">
        <p14:creationId xmlns:p14="http://schemas.microsoft.com/office/powerpoint/2010/main" val="31702291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37B57E-60F1-48D2-8CBD-9358E963850F}"/>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A4DCB46C-DF83-4417-8569-2E031AC1796D}"/>
              </a:ext>
            </a:extLst>
          </p:cNvPr>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kumimoji="1" lang="ja-JP" altLang="en-US"/>
              <a:t>マスター サブタイトルの書式設定</a:t>
            </a:r>
          </a:p>
        </p:txBody>
      </p:sp>
      <p:sp>
        <p:nvSpPr>
          <p:cNvPr id="7" name="日付プレースホルダー 6">
            <a:extLst>
              <a:ext uri="{FF2B5EF4-FFF2-40B4-BE49-F238E27FC236}">
                <a16:creationId xmlns:a16="http://schemas.microsoft.com/office/drawing/2014/main" id="{E93ABA34-9A16-049D-C366-3E12A5998C95}"/>
              </a:ext>
            </a:extLst>
          </p:cNvPr>
          <p:cNvSpPr>
            <a:spLocks noGrp="1"/>
          </p:cNvSpPr>
          <p:nvPr>
            <p:ph type="dt" sz="half" idx="10"/>
          </p:nvPr>
        </p:nvSpPr>
        <p:spPr/>
        <p:txBody>
          <a:bodyPr/>
          <a:lstStyle/>
          <a:p>
            <a:fld id="{C869CFA4-2189-45FE-974A-DE5524E735FA}" type="datetime1">
              <a:rPr kumimoji="1" lang="ja-JP" altLang="en-US" smtClean="0"/>
              <a:t>2024/8/1</a:t>
            </a:fld>
            <a:endParaRPr kumimoji="1" lang="ja-JP" altLang="en-US"/>
          </a:p>
        </p:txBody>
      </p:sp>
      <p:sp>
        <p:nvSpPr>
          <p:cNvPr id="8" name="フッター プレースホルダー 7">
            <a:extLst>
              <a:ext uri="{FF2B5EF4-FFF2-40B4-BE49-F238E27FC236}">
                <a16:creationId xmlns:a16="http://schemas.microsoft.com/office/drawing/2014/main" id="{3C206D49-4CF1-EEDD-5A27-0E199B1EE6E2}"/>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A383E4A-C1A7-381B-4130-88A3C610E4FD}"/>
              </a:ext>
            </a:extLst>
          </p:cNvPr>
          <p:cNvSpPr>
            <a:spLocks noGrp="1"/>
          </p:cNvSpPr>
          <p:nvPr>
            <p:ph type="sldNum" sz="quarter" idx="12"/>
          </p:nvPr>
        </p:nvSpPr>
        <p:spPr>
          <a:xfrm>
            <a:off x="8705489" y="6346414"/>
            <a:ext cx="2743200" cy="365125"/>
          </a:xfrm>
        </p:spPr>
        <p:txBody>
          <a:bodyPr/>
          <a:lstStyle/>
          <a:p>
            <a:fld id="{B407EE00-E7EB-449F-99F5-B6C133517011}" type="slidenum">
              <a:rPr kumimoji="1" lang="ja-JP" altLang="en-US" smtClean="0"/>
              <a:t>‹#›</a:t>
            </a:fld>
            <a:endParaRPr kumimoji="1" lang="ja-JP" altLang="en-US" dirty="0"/>
          </a:p>
        </p:txBody>
      </p:sp>
    </p:spTree>
    <p:extLst>
      <p:ext uri="{BB962C8B-B14F-4D97-AF65-F5344CB8AC3E}">
        <p14:creationId xmlns:p14="http://schemas.microsoft.com/office/powerpoint/2010/main" val="31469283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1798FB-E446-4964-B2D9-34650C3028C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C54E09D-6DF3-4DD9-8A67-7E7E91A45DEA}"/>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D0F3189-51E2-4E8C-A167-2726DF75A55A}"/>
              </a:ext>
            </a:extLst>
          </p:cNvPr>
          <p:cNvSpPr>
            <a:spLocks noGrp="1"/>
          </p:cNvSpPr>
          <p:nvPr>
            <p:ph type="dt" sz="half" idx="10"/>
          </p:nvPr>
        </p:nvSpPr>
        <p:spPr/>
        <p:txBody>
          <a:bodyPr/>
          <a:lstStyle/>
          <a:p>
            <a:fld id="{3D01EB58-91B8-4450-9D81-227092B2F8A3}" type="datetime1">
              <a:rPr kumimoji="1" lang="ja-JP" altLang="en-US" smtClean="0"/>
              <a:t>2024/8/1</a:t>
            </a:fld>
            <a:endParaRPr kumimoji="1" lang="ja-JP" altLang="en-US"/>
          </a:p>
        </p:txBody>
      </p:sp>
      <p:sp>
        <p:nvSpPr>
          <p:cNvPr id="5" name="フッター プレースホルダー 4">
            <a:extLst>
              <a:ext uri="{FF2B5EF4-FFF2-40B4-BE49-F238E27FC236}">
                <a16:creationId xmlns:a16="http://schemas.microsoft.com/office/drawing/2014/main" id="{3E62D95B-8043-4F59-8528-A261A0FD662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31F0151-8A15-4F69-9CF1-AF82DCF22C2F}"/>
              </a:ext>
            </a:extLst>
          </p:cNvPr>
          <p:cNvSpPr>
            <a:spLocks noGrp="1"/>
          </p:cNvSpPr>
          <p:nvPr>
            <p:ph type="sldNum" sz="quarter" idx="12"/>
          </p:nvPr>
        </p:nvSpPr>
        <p:spPr>
          <a:xfrm>
            <a:off x="8610600" y="6356354"/>
            <a:ext cx="2743200" cy="365125"/>
          </a:xfrm>
          <a:prstGeom prst="rect">
            <a:avLst/>
          </a:prstGeom>
        </p:spPr>
        <p:txBody>
          <a:bodyPr/>
          <a:lstStyle/>
          <a:p>
            <a:fld id="{86DB81D5-40F9-4C3D-9CD4-6800D23EE77D}" type="slidenum">
              <a:rPr kumimoji="1" lang="ja-JP" altLang="en-US" smtClean="0"/>
              <a:t>‹#›</a:t>
            </a:fld>
            <a:endParaRPr kumimoji="1" lang="ja-JP" altLang="en-US"/>
          </a:p>
        </p:txBody>
      </p:sp>
    </p:spTree>
    <p:extLst>
      <p:ext uri="{BB962C8B-B14F-4D97-AF65-F5344CB8AC3E}">
        <p14:creationId xmlns:p14="http://schemas.microsoft.com/office/powerpoint/2010/main" val="63608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8D4C837-6BDB-48DF-B3D1-8A08EC037527}"/>
              </a:ext>
            </a:extLst>
          </p:cNvPr>
          <p:cNvSpPr>
            <a:spLocks noGrp="1"/>
          </p:cNvSpPr>
          <p:nvPr>
            <p:ph type="title"/>
          </p:nvPr>
        </p:nvSpPr>
        <p:spPr>
          <a:xfrm>
            <a:off x="831851" y="1709742"/>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CC346B5-231B-446C-9ED4-86CF00941070}"/>
              </a:ext>
            </a:extLst>
          </p:cNvPr>
          <p:cNvSpPr>
            <a:spLocks noGrp="1"/>
          </p:cNvSpPr>
          <p:nvPr>
            <p:ph type="body" idx="1"/>
          </p:nvPr>
        </p:nvSpPr>
        <p:spPr>
          <a:xfrm>
            <a:off x="831851" y="4589467"/>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DFA7BF4-C3FC-40FE-A63E-DC3A4275D55E}"/>
              </a:ext>
            </a:extLst>
          </p:cNvPr>
          <p:cNvSpPr>
            <a:spLocks noGrp="1"/>
          </p:cNvSpPr>
          <p:nvPr>
            <p:ph type="dt" sz="half" idx="10"/>
          </p:nvPr>
        </p:nvSpPr>
        <p:spPr/>
        <p:txBody>
          <a:bodyPr/>
          <a:lstStyle/>
          <a:p>
            <a:fld id="{F9C7E83D-5322-4F0D-B25C-AE80B0F08974}" type="datetime1">
              <a:rPr kumimoji="1" lang="ja-JP" altLang="en-US" smtClean="0"/>
              <a:t>2024/8/1</a:t>
            </a:fld>
            <a:endParaRPr kumimoji="1" lang="ja-JP" altLang="en-US"/>
          </a:p>
        </p:txBody>
      </p:sp>
      <p:sp>
        <p:nvSpPr>
          <p:cNvPr id="5" name="フッター プレースホルダー 4">
            <a:extLst>
              <a:ext uri="{FF2B5EF4-FFF2-40B4-BE49-F238E27FC236}">
                <a16:creationId xmlns:a16="http://schemas.microsoft.com/office/drawing/2014/main" id="{3CBE0164-2A15-48DB-999F-38CF1D67D31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6DB81FF-CF6A-4937-B361-B952E7BAC591}"/>
              </a:ext>
            </a:extLst>
          </p:cNvPr>
          <p:cNvSpPr>
            <a:spLocks noGrp="1"/>
          </p:cNvSpPr>
          <p:nvPr>
            <p:ph type="sldNum" sz="quarter" idx="12"/>
          </p:nvPr>
        </p:nvSpPr>
        <p:spPr>
          <a:xfrm>
            <a:off x="8610600" y="6356354"/>
            <a:ext cx="2743200" cy="365125"/>
          </a:xfrm>
          <a:prstGeom prst="rect">
            <a:avLst/>
          </a:prstGeom>
        </p:spPr>
        <p:txBody>
          <a:bodyPr/>
          <a:lstStyle/>
          <a:p>
            <a:fld id="{86DB81D5-40F9-4C3D-9CD4-6800D23EE77D}" type="slidenum">
              <a:rPr kumimoji="1" lang="ja-JP" altLang="en-US" smtClean="0"/>
              <a:t>‹#›</a:t>
            </a:fld>
            <a:endParaRPr kumimoji="1" lang="ja-JP" altLang="en-US"/>
          </a:p>
        </p:txBody>
      </p:sp>
    </p:spTree>
    <p:extLst>
      <p:ext uri="{BB962C8B-B14F-4D97-AF65-F5344CB8AC3E}">
        <p14:creationId xmlns:p14="http://schemas.microsoft.com/office/powerpoint/2010/main" val="33937535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7C2A23-4144-4964-A906-D8DCD510524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F2F7CE7-9FC9-4E1C-A1EA-59B82B299F1F}"/>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B89F8B1-F08A-41FC-8910-3BDE915058A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6D879AD7-79A2-4E84-89CE-06A48A8A2D61}"/>
              </a:ext>
            </a:extLst>
          </p:cNvPr>
          <p:cNvSpPr>
            <a:spLocks noGrp="1"/>
          </p:cNvSpPr>
          <p:nvPr>
            <p:ph type="dt" sz="half" idx="10"/>
          </p:nvPr>
        </p:nvSpPr>
        <p:spPr/>
        <p:txBody>
          <a:bodyPr/>
          <a:lstStyle/>
          <a:p>
            <a:fld id="{296D8AFF-5F2D-45E1-8BA9-20A59AE89234}" type="datetime1">
              <a:rPr kumimoji="1" lang="ja-JP" altLang="en-US" smtClean="0"/>
              <a:t>2024/8/1</a:t>
            </a:fld>
            <a:endParaRPr kumimoji="1" lang="ja-JP" altLang="en-US"/>
          </a:p>
        </p:txBody>
      </p:sp>
      <p:sp>
        <p:nvSpPr>
          <p:cNvPr id="6" name="フッター プレースホルダー 5">
            <a:extLst>
              <a:ext uri="{FF2B5EF4-FFF2-40B4-BE49-F238E27FC236}">
                <a16:creationId xmlns:a16="http://schemas.microsoft.com/office/drawing/2014/main" id="{FB63FF37-2FCC-472A-BE10-3A68E9A80F3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5E4F377-535B-4C2A-ACB0-042BBAEC8F1F}"/>
              </a:ext>
            </a:extLst>
          </p:cNvPr>
          <p:cNvSpPr>
            <a:spLocks noGrp="1"/>
          </p:cNvSpPr>
          <p:nvPr>
            <p:ph type="sldNum" sz="quarter" idx="12"/>
          </p:nvPr>
        </p:nvSpPr>
        <p:spPr>
          <a:xfrm>
            <a:off x="8610600" y="6356354"/>
            <a:ext cx="2743200" cy="365125"/>
          </a:xfrm>
          <a:prstGeom prst="rect">
            <a:avLst/>
          </a:prstGeom>
        </p:spPr>
        <p:txBody>
          <a:bodyPr/>
          <a:lstStyle/>
          <a:p>
            <a:fld id="{86DB81D5-40F9-4C3D-9CD4-6800D23EE77D}" type="slidenum">
              <a:rPr kumimoji="1" lang="ja-JP" altLang="en-US" smtClean="0"/>
              <a:t>‹#›</a:t>
            </a:fld>
            <a:endParaRPr kumimoji="1" lang="ja-JP" altLang="en-US"/>
          </a:p>
        </p:txBody>
      </p:sp>
    </p:spTree>
    <p:extLst>
      <p:ext uri="{BB962C8B-B14F-4D97-AF65-F5344CB8AC3E}">
        <p14:creationId xmlns:p14="http://schemas.microsoft.com/office/powerpoint/2010/main" val="1141987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2F4D4D-4B23-4DFF-8ADE-FFB09E80F1A3}"/>
              </a:ext>
            </a:extLst>
          </p:cNvPr>
          <p:cNvSpPr>
            <a:spLocks noGrp="1"/>
          </p:cNvSpPr>
          <p:nvPr>
            <p:ph type="title"/>
          </p:nvPr>
        </p:nvSpPr>
        <p:spPr>
          <a:xfrm>
            <a:off x="839788" y="365129"/>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531D3F4-EBC3-440B-B93A-8D27BA992D13}"/>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DA3E6FF4-F583-4F97-A804-E78C70667C40}"/>
              </a:ext>
            </a:extLst>
          </p:cNvPr>
          <p:cNvSpPr>
            <a:spLocks noGrp="1"/>
          </p:cNvSpPr>
          <p:nvPr>
            <p:ph sz="half" idx="2"/>
          </p:nvPr>
        </p:nvSpPr>
        <p:spPr>
          <a:xfrm>
            <a:off x="839789"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99CAC76C-65EF-4E72-ABBB-130A914525E4}"/>
              </a:ext>
            </a:extLst>
          </p:cNvPr>
          <p:cNvSpPr>
            <a:spLocks noGrp="1"/>
          </p:cNvSpPr>
          <p:nvPr>
            <p:ph type="body" sz="quarter" idx="3"/>
          </p:nvPr>
        </p:nvSpPr>
        <p:spPr>
          <a:xfrm>
            <a:off x="6172202"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CBC2F023-74D6-44BE-9637-69B2063FB9C8}"/>
              </a:ext>
            </a:extLst>
          </p:cNvPr>
          <p:cNvSpPr>
            <a:spLocks noGrp="1"/>
          </p:cNvSpPr>
          <p:nvPr>
            <p:ph sz="quarter" idx="4"/>
          </p:nvPr>
        </p:nvSpPr>
        <p:spPr>
          <a:xfrm>
            <a:off x="6172202"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8EB34897-6B54-47EC-BEE4-A059143D7754}"/>
              </a:ext>
            </a:extLst>
          </p:cNvPr>
          <p:cNvSpPr>
            <a:spLocks noGrp="1"/>
          </p:cNvSpPr>
          <p:nvPr>
            <p:ph type="dt" sz="half" idx="10"/>
          </p:nvPr>
        </p:nvSpPr>
        <p:spPr/>
        <p:txBody>
          <a:bodyPr/>
          <a:lstStyle/>
          <a:p>
            <a:fld id="{642C4D51-1CB4-45AF-BB76-26DAE2B3CD45}" type="datetime1">
              <a:rPr kumimoji="1" lang="ja-JP" altLang="en-US" smtClean="0"/>
              <a:t>2024/8/1</a:t>
            </a:fld>
            <a:endParaRPr kumimoji="1" lang="ja-JP" altLang="en-US"/>
          </a:p>
        </p:txBody>
      </p:sp>
      <p:sp>
        <p:nvSpPr>
          <p:cNvPr id="8" name="フッター プレースホルダー 7">
            <a:extLst>
              <a:ext uri="{FF2B5EF4-FFF2-40B4-BE49-F238E27FC236}">
                <a16:creationId xmlns:a16="http://schemas.microsoft.com/office/drawing/2014/main" id="{8F4E3D7C-E7FE-4259-9E91-B03EEA18DD63}"/>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A163416D-5B92-4B67-8773-ED153E805014}"/>
              </a:ext>
            </a:extLst>
          </p:cNvPr>
          <p:cNvSpPr>
            <a:spLocks noGrp="1"/>
          </p:cNvSpPr>
          <p:nvPr>
            <p:ph type="sldNum" sz="quarter" idx="12"/>
          </p:nvPr>
        </p:nvSpPr>
        <p:spPr>
          <a:xfrm>
            <a:off x="8610600" y="6356354"/>
            <a:ext cx="2743200" cy="365125"/>
          </a:xfrm>
          <a:prstGeom prst="rect">
            <a:avLst/>
          </a:prstGeom>
        </p:spPr>
        <p:txBody>
          <a:bodyPr/>
          <a:lstStyle/>
          <a:p>
            <a:fld id="{86DB81D5-40F9-4C3D-9CD4-6800D23EE77D}" type="slidenum">
              <a:rPr kumimoji="1" lang="ja-JP" altLang="en-US" smtClean="0"/>
              <a:t>‹#›</a:t>
            </a:fld>
            <a:endParaRPr kumimoji="1" lang="ja-JP" altLang="en-US"/>
          </a:p>
        </p:txBody>
      </p:sp>
    </p:spTree>
    <p:extLst>
      <p:ext uri="{BB962C8B-B14F-4D97-AF65-F5344CB8AC3E}">
        <p14:creationId xmlns:p14="http://schemas.microsoft.com/office/powerpoint/2010/main" val="4134058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2D3665-C7B7-4FAC-9D3E-ED41E99B63F3}"/>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F36B3DFE-1B2F-403A-B8C4-C6C46D7F4208}"/>
              </a:ext>
            </a:extLst>
          </p:cNvPr>
          <p:cNvSpPr>
            <a:spLocks noGrp="1"/>
          </p:cNvSpPr>
          <p:nvPr>
            <p:ph type="dt" sz="half" idx="10"/>
          </p:nvPr>
        </p:nvSpPr>
        <p:spPr/>
        <p:txBody>
          <a:bodyPr/>
          <a:lstStyle/>
          <a:p>
            <a:fld id="{4EF1564C-A825-4F6C-938C-9AF5BAF1BDF9}" type="datetime1">
              <a:rPr kumimoji="1" lang="ja-JP" altLang="en-US" smtClean="0"/>
              <a:t>2024/8/1</a:t>
            </a:fld>
            <a:endParaRPr kumimoji="1" lang="ja-JP" altLang="en-US"/>
          </a:p>
        </p:txBody>
      </p:sp>
      <p:sp>
        <p:nvSpPr>
          <p:cNvPr id="4" name="フッター プレースホルダー 3">
            <a:extLst>
              <a:ext uri="{FF2B5EF4-FFF2-40B4-BE49-F238E27FC236}">
                <a16:creationId xmlns:a16="http://schemas.microsoft.com/office/drawing/2014/main" id="{3593C20A-39C1-4917-8085-16E95C686774}"/>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D9CBD121-F14B-421C-B0A6-33201C664B57}"/>
              </a:ext>
            </a:extLst>
          </p:cNvPr>
          <p:cNvSpPr>
            <a:spLocks noGrp="1"/>
          </p:cNvSpPr>
          <p:nvPr>
            <p:ph type="sldNum" sz="quarter" idx="12"/>
          </p:nvPr>
        </p:nvSpPr>
        <p:spPr>
          <a:xfrm>
            <a:off x="8610600" y="6356354"/>
            <a:ext cx="2743200" cy="365125"/>
          </a:xfrm>
          <a:prstGeom prst="rect">
            <a:avLst/>
          </a:prstGeom>
        </p:spPr>
        <p:txBody>
          <a:bodyPr/>
          <a:lstStyle/>
          <a:p>
            <a:fld id="{86DB81D5-40F9-4C3D-9CD4-6800D23EE77D}" type="slidenum">
              <a:rPr kumimoji="1" lang="ja-JP" altLang="en-US" smtClean="0"/>
              <a:t>‹#›</a:t>
            </a:fld>
            <a:endParaRPr kumimoji="1" lang="ja-JP" altLang="en-US"/>
          </a:p>
        </p:txBody>
      </p:sp>
    </p:spTree>
    <p:extLst>
      <p:ext uri="{BB962C8B-B14F-4D97-AF65-F5344CB8AC3E}">
        <p14:creationId xmlns:p14="http://schemas.microsoft.com/office/powerpoint/2010/main" val="17247442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692E9D73-B185-475E-A2D4-AA23FF2863AD}"/>
              </a:ext>
            </a:extLst>
          </p:cNvPr>
          <p:cNvSpPr>
            <a:spLocks noGrp="1"/>
          </p:cNvSpPr>
          <p:nvPr>
            <p:ph type="dt" sz="half" idx="10"/>
          </p:nvPr>
        </p:nvSpPr>
        <p:spPr/>
        <p:txBody>
          <a:bodyPr/>
          <a:lstStyle/>
          <a:p>
            <a:fld id="{027A3632-D32F-4240-B53B-BD2C894D7712}" type="datetime1">
              <a:rPr kumimoji="1" lang="ja-JP" altLang="en-US" smtClean="0"/>
              <a:t>2024/8/1</a:t>
            </a:fld>
            <a:endParaRPr kumimoji="1" lang="ja-JP" altLang="en-US"/>
          </a:p>
        </p:txBody>
      </p:sp>
      <p:sp>
        <p:nvSpPr>
          <p:cNvPr id="3" name="フッター プレースホルダー 2">
            <a:extLst>
              <a:ext uri="{FF2B5EF4-FFF2-40B4-BE49-F238E27FC236}">
                <a16:creationId xmlns:a16="http://schemas.microsoft.com/office/drawing/2014/main" id="{235AE215-0E78-4503-B821-86DE2C35F1D1}"/>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5A7D74E-60C1-4DA2-B718-15FB60830123}"/>
              </a:ext>
            </a:extLst>
          </p:cNvPr>
          <p:cNvSpPr>
            <a:spLocks noGrp="1"/>
          </p:cNvSpPr>
          <p:nvPr>
            <p:ph type="sldNum" sz="quarter" idx="12"/>
          </p:nvPr>
        </p:nvSpPr>
        <p:spPr>
          <a:xfrm>
            <a:off x="8610600" y="6356354"/>
            <a:ext cx="2743200" cy="365125"/>
          </a:xfrm>
          <a:prstGeom prst="rect">
            <a:avLst/>
          </a:prstGeom>
        </p:spPr>
        <p:txBody>
          <a:bodyPr/>
          <a:lstStyle/>
          <a:p>
            <a:fld id="{86DB81D5-40F9-4C3D-9CD4-6800D23EE77D}" type="slidenum">
              <a:rPr kumimoji="1" lang="ja-JP" altLang="en-US" smtClean="0"/>
              <a:t>‹#›</a:t>
            </a:fld>
            <a:endParaRPr kumimoji="1" lang="ja-JP" altLang="en-US"/>
          </a:p>
        </p:txBody>
      </p:sp>
    </p:spTree>
    <p:extLst>
      <p:ext uri="{BB962C8B-B14F-4D97-AF65-F5344CB8AC3E}">
        <p14:creationId xmlns:p14="http://schemas.microsoft.com/office/powerpoint/2010/main" val="19539196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A1F85C0-D044-4FB1-8A8A-82BBBF290F8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ED796E3-7C2E-4AA7-8CD9-A0EF05DE3A9E}"/>
              </a:ext>
            </a:extLst>
          </p:cNvPr>
          <p:cNvSpPr>
            <a:spLocks noGrp="1"/>
          </p:cNvSpPr>
          <p:nvPr>
            <p:ph idx="1"/>
          </p:nvPr>
        </p:nvSpPr>
        <p:spPr>
          <a:xfrm>
            <a:off x="5183188" y="987429"/>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F52C7B92-A81A-45F7-983C-54778935B6C7}"/>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CF732BC-6E06-4A2F-95D8-A89F1F2F4A42}"/>
              </a:ext>
            </a:extLst>
          </p:cNvPr>
          <p:cNvSpPr>
            <a:spLocks noGrp="1"/>
          </p:cNvSpPr>
          <p:nvPr>
            <p:ph type="dt" sz="half" idx="10"/>
          </p:nvPr>
        </p:nvSpPr>
        <p:spPr/>
        <p:txBody>
          <a:bodyPr/>
          <a:lstStyle/>
          <a:p>
            <a:fld id="{A54250A6-4486-493F-9AC0-84C8B0705AEC}" type="datetime1">
              <a:rPr kumimoji="1" lang="ja-JP" altLang="en-US" smtClean="0"/>
              <a:t>2024/8/1</a:t>
            </a:fld>
            <a:endParaRPr kumimoji="1" lang="ja-JP" altLang="en-US"/>
          </a:p>
        </p:txBody>
      </p:sp>
      <p:sp>
        <p:nvSpPr>
          <p:cNvPr id="6" name="フッター プレースホルダー 5">
            <a:extLst>
              <a:ext uri="{FF2B5EF4-FFF2-40B4-BE49-F238E27FC236}">
                <a16:creationId xmlns:a16="http://schemas.microsoft.com/office/drawing/2014/main" id="{E8DACC8F-0644-4C4A-857F-2BA3C29A136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DE4EDC3-864C-457F-8F92-EF63FB4F7FEA}"/>
              </a:ext>
            </a:extLst>
          </p:cNvPr>
          <p:cNvSpPr>
            <a:spLocks noGrp="1"/>
          </p:cNvSpPr>
          <p:nvPr>
            <p:ph type="sldNum" sz="quarter" idx="12"/>
          </p:nvPr>
        </p:nvSpPr>
        <p:spPr>
          <a:xfrm>
            <a:off x="8610600" y="6356354"/>
            <a:ext cx="2743200" cy="365125"/>
          </a:xfrm>
          <a:prstGeom prst="rect">
            <a:avLst/>
          </a:prstGeom>
        </p:spPr>
        <p:txBody>
          <a:bodyPr/>
          <a:lstStyle/>
          <a:p>
            <a:fld id="{86DB81D5-40F9-4C3D-9CD4-6800D23EE77D}" type="slidenum">
              <a:rPr kumimoji="1" lang="ja-JP" altLang="en-US" smtClean="0"/>
              <a:t>‹#›</a:t>
            </a:fld>
            <a:endParaRPr kumimoji="1" lang="ja-JP" altLang="en-US"/>
          </a:p>
        </p:txBody>
      </p:sp>
    </p:spTree>
    <p:extLst>
      <p:ext uri="{BB962C8B-B14F-4D97-AF65-F5344CB8AC3E}">
        <p14:creationId xmlns:p14="http://schemas.microsoft.com/office/powerpoint/2010/main" val="937499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0A7DFE-CC80-43F3-946E-8DE9CB7747B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E417695C-B06E-44AB-AFE9-558901B7B3E0}"/>
              </a:ext>
            </a:extLst>
          </p:cNvPr>
          <p:cNvSpPr>
            <a:spLocks noGrp="1"/>
          </p:cNvSpPr>
          <p:nvPr>
            <p:ph type="pic" idx="1"/>
          </p:nvPr>
        </p:nvSpPr>
        <p:spPr>
          <a:xfrm>
            <a:off x="5183188" y="987429"/>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6A8E395-87E1-44A5-9B6D-DA50B2F2992F}"/>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6FCB7BB-0B89-468C-9997-7EB49A6EDDCC}"/>
              </a:ext>
            </a:extLst>
          </p:cNvPr>
          <p:cNvSpPr>
            <a:spLocks noGrp="1"/>
          </p:cNvSpPr>
          <p:nvPr>
            <p:ph type="dt" sz="half" idx="10"/>
          </p:nvPr>
        </p:nvSpPr>
        <p:spPr/>
        <p:txBody>
          <a:bodyPr/>
          <a:lstStyle/>
          <a:p>
            <a:fld id="{652908AC-0D9E-489E-AE38-C0FD724FC7E7}" type="datetime1">
              <a:rPr kumimoji="1" lang="ja-JP" altLang="en-US" smtClean="0"/>
              <a:t>2024/8/1</a:t>
            </a:fld>
            <a:endParaRPr kumimoji="1" lang="ja-JP" altLang="en-US"/>
          </a:p>
        </p:txBody>
      </p:sp>
      <p:sp>
        <p:nvSpPr>
          <p:cNvPr id="6" name="フッター プレースホルダー 5">
            <a:extLst>
              <a:ext uri="{FF2B5EF4-FFF2-40B4-BE49-F238E27FC236}">
                <a16:creationId xmlns:a16="http://schemas.microsoft.com/office/drawing/2014/main" id="{09A05DED-77D2-456B-9A48-CE472DF6E68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4F1A290-4E31-4605-9416-0194324A8B74}"/>
              </a:ext>
            </a:extLst>
          </p:cNvPr>
          <p:cNvSpPr>
            <a:spLocks noGrp="1"/>
          </p:cNvSpPr>
          <p:nvPr>
            <p:ph type="sldNum" sz="quarter" idx="12"/>
          </p:nvPr>
        </p:nvSpPr>
        <p:spPr>
          <a:xfrm>
            <a:off x="8610600" y="6356354"/>
            <a:ext cx="2743200" cy="365125"/>
          </a:xfrm>
          <a:prstGeom prst="rect">
            <a:avLst/>
          </a:prstGeom>
        </p:spPr>
        <p:txBody>
          <a:bodyPr/>
          <a:lstStyle/>
          <a:p>
            <a:fld id="{86DB81D5-40F9-4C3D-9CD4-6800D23EE77D}" type="slidenum">
              <a:rPr kumimoji="1" lang="ja-JP" altLang="en-US" smtClean="0"/>
              <a:t>‹#›</a:t>
            </a:fld>
            <a:endParaRPr kumimoji="1" lang="ja-JP" altLang="en-US"/>
          </a:p>
        </p:txBody>
      </p:sp>
    </p:spTree>
    <p:extLst>
      <p:ext uri="{BB962C8B-B14F-4D97-AF65-F5344CB8AC3E}">
        <p14:creationId xmlns:p14="http://schemas.microsoft.com/office/powerpoint/2010/main" val="930516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871D8EA-184F-48D3-B238-993556259A81}"/>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6AC6A4D-6BE4-4A6D-A670-1499201E1B5A}"/>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D9C48A3-D867-4C79-B306-AC60BFF15819}"/>
              </a:ext>
            </a:extLst>
          </p:cNvPr>
          <p:cNvSpPr>
            <a:spLocks noGrp="1"/>
          </p:cNvSpPr>
          <p:nvPr>
            <p:ph type="dt" sz="half" idx="10"/>
          </p:nvPr>
        </p:nvSpPr>
        <p:spPr/>
        <p:txBody>
          <a:bodyPr/>
          <a:lstStyle/>
          <a:p>
            <a:fld id="{648DE844-C191-49DB-B60B-B866EF67868B}" type="datetime1">
              <a:rPr kumimoji="1" lang="ja-JP" altLang="en-US" smtClean="0"/>
              <a:t>2024/8/1</a:t>
            </a:fld>
            <a:endParaRPr kumimoji="1" lang="ja-JP" altLang="en-US"/>
          </a:p>
        </p:txBody>
      </p:sp>
      <p:sp>
        <p:nvSpPr>
          <p:cNvPr id="5" name="フッター プレースホルダー 4">
            <a:extLst>
              <a:ext uri="{FF2B5EF4-FFF2-40B4-BE49-F238E27FC236}">
                <a16:creationId xmlns:a16="http://schemas.microsoft.com/office/drawing/2014/main" id="{E5F630C9-8E6E-4DDB-9269-8E60E0B7C18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C58D7B3-0892-4616-A432-429A1172CC6A}"/>
              </a:ext>
            </a:extLst>
          </p:cNvPr>
          <p:cNvSpPr>
            <a:spLocks noGrp="1"/>
          </p:cNvSpPr>
          <p:nvPr>
            <p:ph type="sldNum" sz="quarter" idx="12"/>
          </p:nvPr>
        </p:nvSpPr>
        <p:spPr>
          <a:xfrm>
            <a:off x="8610600" y="6356354"/>
            <a:ext cx="2743200" cy="365125"/>
          </a:xfrm>
          <a:prstGeom prst="rect">
            <a:avLst/>
          </a:prstGeom>
        </p:spPr>
        <p:txBody>
          <a:bodyPr/>
          <a:lstStyle/>
          <a:p>
            <a:fld id="{86DB81D5-40F9-4C3D-9CD4-6800D23EE77D}" type="slidenum">
              <a:rPr kumimoji="1" lang="ja-JP" altLang="en-US" smtClean="0"/>
              <a:t>‹#›</a:t>
            </a:fld>
            <a:endParaRPr kumimoji="1" lang="ja-JP" altLang="en-US"/>
          </a:p>
        </p:txBody>
      </p:sp>
    </p:spTree>
    <p:extLst>
      <p:ext uri="{BB962C8B-B14F-4D97-AF65-F5344CB8AC3E}">
        <p14:creationId xmlns:p14="http://schemas.microsoft.com/office/powerpoint/2010/main" val="5821920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C6A6FEDB-2279-4C0D-A6B9-6CA9CB91C427}"/>
              </a:ext>
            </a:extLst>
          </p:cNvPr>
          <p:cNvSpPr>
            <a:spLocks noGrp="1"/>
          </p:cNvSpPr>
          <p:nvPr>
            <p:ph type="title" orient="vert"/>
          </p:nvPr>
        </p:nvSpPr>
        <p:spPr>
          <a:xfrm>
            <a:off x="8724902"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AF92ABC-4FDD-45A0-AA03-046137A9C244}"/>
              </a:ext>
            </a:extLst>
          </p:cNvPr>
          <p:cNvSpPr>
            <a:spLocks noGrp="1"/>
          </p:cNvSpPr>
          <p:nvPr>
            <p:ph type="body" orient="vert" idx="1"/>
          </p:nvPr>
        </p:nvSpPr>
        <p:spPr>
          <a:xfrm>
            <a:off x="838202"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552BA03-349A-4F13-9F48-FEB8961E881D}"/>
              </a:ext>
            </a:extLst>
          </p:cNvPr>
          <p:cNvSpPr>
            <a:spLocks noGrp="1"/>
          </p:cNvSpPr>
          <p:nvPr>
            <p:ph type="dt" sz="half" idx="10"/>
          </p:nvPr>
        </p:nvSpPr>
        <p:spPr/>
        <p:txBody>
          <a:bodyPr/>
          <a:lstStyle/>
          <a:p>
            <a:fld id="{8A859E7B-2023-4561-A649-623F8A6D6D12}" type="datetime1">
              <a:rPr kumimoji="1" lang="ja-JP" altLang="en-US" smtClean="0"/>
              <a:t>2024/8/1</a:t>
            </a:fld>
            <a:endParaRPr kumimoji="1" lang="ja-JP" altLang="en-US"/>
          </a:p>
        </p:txBody>
      </p:sp>
      <p:sp>
        <p:nvSpPr>
          <p:cNvPr id="5" name="フッター プレースホルダー 4">
            <a:extLst>
              <a:ext uri="{FF2B5EF4-FFF2-40B4-BE49-F238E27FC236}">
                <a16:creationId xmlns:a16="http://schemas.microsoft.com/office/drawing/2014/main" id="{578C9656-18F4-499E-83EA-FE8C5696FE3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00785E9-E4E6-4FEA-B130-4E6F45ABD3BA}"/>
              </a:ext>
            </a:extLst>
          </p:cNvPr>
          <p:cNvSpPr>
            <a:spLocks noGrp="1"/>
          </p:cNvSpPr>
          <p:nvPr>
            <p:ph type="sldNum" sz="quarter" idx="12"/>
          </p:nvPr>
        </p:nvSpPr>
        <p:spPr>
          <a:xfrm>
            <a:off x="8610600" y="6356354"/>
            <a:ext cx="2743200" cy="365125"/>
          </a:xfrm>
          <a:prstGeom prst="rect">
            <a:avLst/>
          </a:prstGeom>
        </p:spPr>
        <p:txBody>
          <a:bodyPr/>
          <a:lstStyle/>
          <a:p>
            <a:fld id="{86DB81D5-40F9-4C3D-9CD4-6800D23EE77D}" type="slidenum">
              <a:rPr kumimoji="1" lang="ja-JP" altLang="en-US" smtClean="0"/>
              <a:t>‹#›</a:t>
            </a:fld>
            <a:endParaRPr kumimoji="1" lang="ja-JP" altLang="en-US"/>
          </a:p>
        </p:txBody>
      </p:sp>
    </p:spTree>
    <p:extLst>
      <p:ext uri="{BB962C8B-B14F-4D97-AF65-F5344CB8AC3E}">
        <p14:creationId xmlns:p14="http://schemas.microsoft.com/office/powerpoint/2010/main" val="3246327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1C9B20A-1395-4583-9291-A32D73F937AC}"/>
              </a:ext>
            </a:extLst>
          </p:cNvPr>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D9FB4B6-2805-412F-971A-74F67ACB7A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F8F68ABB-98CA-42B5-8BCB-438A7EB0BABF}"/>
              </a:ext>
            </a:extLst>
          </p:cNvPr>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0C3CFD-0487-4D55-88F3-2D5A2D3D792E}" type="datetime1">
              <a:rPr kumimoji="1" lang="ja-JP" altLang="en-US" smtClean="0"/>
              <a:t>2024/8/1</a:t>
            </a:fld>
            <a:endParaRPr kumimoji="1" lang="ja-JP" altLang="en-US"/>
          </a:p>
        </p:txBody>
      </p:sp>
      <p:sp>
        <p:nvSpPr>
          <p:cNvPr id="5" name="フッター プレースホルダー 4">
            <a:extLst>
              <a:ext uri="{FF2B5EF4-FFF2-40B4-BE49-F238E27FC236}">
                <a16:creationId xmlns:a16="http://schemas.microsoft.com/office/drawing/2014/main" id="{8D412A92-5560-479E-A032-86BD8B6C578A}"/>
              </a:ext>
            </a:extLst>
          </p:cNvPr>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7" name="スライド番号プレースホルダー 6">
            <a:extLst>
              <a:ext uri="{FF2B5EF4-FFF2-40B4-BE49-F238E27FC236}">
                <a16:creationId xmlns:a16="http://schemas.microsoft.com/office/drawing/2014/main" id="{EF8F6EEC-1EB1-45D7-8D9A-DD675F0F252C}"/>
              </a:ext>
            </a:extLst>
          </p:cNvPr>
          <p:cNvSpPr>
            <a:spLocks noGrp="1"/>
          </p:cNvSpPr>
          <p:nvPr>
            <p:ph type="sldNum" sz="quarter" idx="4"/>
          </p:nvPr>
        </p:nvSpPr>
        <p:spPr>
          <a:xfrm>
            <a:off x="9266207" y="636648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07EE00-E7EB-449F-99F5-B6C133517011}" type="slidenum">
              <a:rPr kumimoji="1" lang="ja-JP" altLang="en-US" smtClean="0"/>
              <a:t>‹#›</a:t>
            </a:fld>
            <a:endParaRPr kumimoji="1" lang="ja-JP" altLang="en-US" dirty="0"/>
          </a:p>
        </p:txBody>
      </p:sp>
    </p:spTree>
    <p:extLst>
      <p:ext uri="{BB962C8B-B14F-4D97-AF65-F5344CB8AC3E}">
        <p14:creationId xmlns:p14="http://schemas.microsoft.com/office/powerpoint/2010/main" val="37299491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377"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377" rtl="0" eaLnBrk="1" latinLnBrk="0" hangingPunct="1">
        <a:defRPr kumimoji="1" sz="1800" kern="1200">
          <a:solidFill>
            <a:schemeClr val="tx1"/>
          </a:solidFill>
          <a:latin typeface="+mn-lt"/>
          <a:ea typeface="+mn-ea"/>
          <a:cs typeface="+mn-cs"/>
        </a:defRPr>
      </a:lvl1pPr>
      <a:lvl2pPr marL="457189" algn="l" defTabSz="914377" rtl="0" eaLnBrk="1" latinLnBrk="0" hangingPunct="1">
        <a:defRPr kumimoji="1" sz="1800" kern="1200">
          <a:solidFill>
            <a:schemeClr val="tx1"/>
          </a:solidFill>
          <a:latin typeface="+mn-lt"/>
          <a:ea typeface="+mn-ea"/>
          <a:cs typeface="+mn-cs"/>
        </a:defRPr>
      </a:lvl2pPr>
      <a:lvl3pPr marL="914377" algn="l" defTabSz="914377" rtl="0" eaLnBrk="1" latinLnBrk="0" hangingPunct="1">
        <a:defRPr kumimoji="1" sz="1800" kern="1200">
          <a:solidFill>
            <a:schemeClr val="tx1"/>
          </a:solidFill>
          <a:latin typeface="+mn-lt"/>
          <a:ea typeface="+mn-ea"/>
          <a:cs typeface="+mn-cs"/>
        </a:defRPr>
      </a:lvl3pPr>
      <a:lvl4pPr marL="1371566" algn="l" defTabSz="914377" rtl="0" eaLnBrk="1" latinLnBrk="0" hangingPunct="1">
        <a:defRPr kumimoji="1" sz="1800" kern="1200">
          <a:solidFill>
            <a:schemeClr val="tx1"/>
          </a:solidFill>
          <a:latin typeface="+mn-lt"/>
          <a:ea typeface="+mn-ea"/>
          <a:cs typeface="+mn-cs"/>
        </a:defRPr>
      </a:lvl4pPr>
      <a:lvl5pPr marL="1828754" algn="l" defTabSz="914377" rtl="0" eaLnBrk="1" latinLnBrk="0" hangingPunct="1">
        <a:defRPr kumimoji="1" sz="1800" kern="1200">
          <a:solidFill>
            <a:schemeClr val="tx1"/>
          </a:solidFill>
          <a:latin typeface="+mn-lt"/>
          <a:ea typeface="+mn-ea"/>
          <a:cs typeface="+mn-cs"/>
        </a:defRPr>
      </a:lvl5pPr>
      <a:lvl6pPr marL="2285943" algn="l" defTabSz="914377" rtl="0" eaLnBrk="1" latinLnBrk="0" hangingPunct="1">
        <a:defRPr kumimoji="1" sz="1800" kern="1200">
          <a:solidFill>
            <a:schemeClr val="tx1"/>
          </a:solidFill>
          <a:latin typeface="+mn-lt"/>
          <a:ea typeface="+mn-ea"/>
          <a:cs typeface="+mn-cs"/>
        </a:defRPr>
      </a:lvl6pPr>
      <a:lvl7pPr marL="2743131" algn="l" defTabSz="914377" rtl="0" eaLnBrk="1" latinLnBrk="0" hangingPunct="1">
        <a:defRPr kumimoji="1" sz="1800" kern="1200">
          <a:solidFill>
            <a:schemeClr val="tx1"/>
          </a:solidFill>
          <a:latin typeface="+mn-lt"/>
          <a:ea typeface="+mn-ea"/>
          <a:cs typeface="+mn-cs"/>
        </a:defRPr>
      </a:lvl7pPr>
      <a:lvl8pPr marL="3200320" algn="l" defTabSz="914377" rtl="0" eaLnBrk="1" latinLnBrk="0" hangingPunct="1">
        <a:defRPr kumimoji="1" sz="1800" kern="1200">
          <a:solidFill>
            <a:schemeClr val="tx1"/>
          </a:solidFill>
          <a:latin typeface="+mn-lt"/>
          <a:ea typeface="+mn-ea"/>
          <a:cs typeface="+mn-cs"/>
        </a:defRPr>
      </a:lvl8pPr>
      <a:lvl9pPr marL="3657509" algn="l" defTabSz="914377"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9.png"/><Relationship Id="rId7"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17213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87B170C7-E09C-469C-81DC-BD4D78433109}"/>
              </a:ext>
            </a:extLst>
          </p:cNvPr>
          <p:cNvSpPr txBox="1"/>
          <p:nvPr/>
        </p:nvSpPr>
        <p:spPr>
          <a:xfrm>
            <a:off x="0" y="0"/>
            <a:ext cx="7342909" cy="369332"/>
          </a:xfrm>
          <a:prstGeom prst="rect">
            <a:avLst/>
          </a:prstGeom>
          <a:noFill/>
        </p:spPr>
        <p:txBody>
          <a:bodyPr wrap="square" rtlCol="0">
            <a:spAutoFit/>
          </a:bodyPr>
          <a:lstStyle/>
          <a:p>
            <a:r>
              <a:rPr lang="en-US" altLang="ja-JP" dirty="0"/>
              <a:t> </a:t>
            </a:r>
            <a:endParaRPr lang="ja-JP" altLang="en-US" dirty="0"/>
          </a:p>
        </p:txBody>
      </p:sp>
      <p:sp>
        <p:nvSpPr>
          <p:cNvPr id="8" name="テキスト ボックス 7">
            <a:extLst>
              <a:ext uri="{FF2B5EF4-FFF2-40B4-BE49-F238E27FC236}">
                <a16:creationId xmlns:a16="http://schemas.microsoft.com/office/drawing/2014/main" id="{ED296AF3-7FD0-4FE3-A3F4-EE192EC95312}"/>
              </a:ext>
            </a:extLst>
          </p:cNvPr>
          <p:cNvSpPr txBox="1"/>
          <p:nvPr/>
        </p:nvSpPr>
        <p:spPr>
          <a:xfrm>
            <a:off x="221674" y="261443"/>
            <a:ext cx="3999345" cy="769441"/>
          </a:xfrm>
          <a:prstGeom prst="rect">
            <a:avLst/>
          </a:prstGeom>
          <a:noFill/>
        </p:spPr>
        <p:txBody>
          <a:bodyPr wrap="square" rtlCol="0">
            <a:spAutoFit/>
          </a:bodyPr>
          <a:lstStyle/>
          <a:p>
            <a:r>
              <a:rPr lang="en-US" altLang="ja-JP" sz="4400" dirty="0">
                <a:solidFill>
                  <a:schemeClr val="bg1"/>
                </a:solidFill>
                <a:latin typeface="Yu Gothic UI Semibold" panose="020B0700000000000000" pitchFamily="50" charset="-128"/>
                <a:ea typeface="Yu Gothic UI Semibold" panose="020B0700000000000000" pitchFamily="50" charset="-128"/>
              </a:rPr>
              <a:t>Introduction</a:t>
            </a:r>
          </a:p>
        </p:txBody>
      </p:sp>
      <p:sp>
        <p:nvSpPr>
          <p:cNvPr id="5" name="テキスト ボックス 4">
            <a:extLst>
              <a:ext uri="{FF2B5EF4-FFF2-40B4-BE49-F238E27FC236}">
                <a16:creationId xmlns:a16="http://schemas.microsoft.com/office/drawing/2014/main" id="{924D1247-7C89-DD7D-714C-7AEF87B75DE1}"/>
              </a:ext>
            </a:extLst>
          </p:cNvPr>
          <p:cNvSpPr txBox="1"/>
          <p:nvPr/>
        </p:nvSpPr>
        <p:spPr>
          <a:xfrm>
            <a:off x="247471" y="1713367"/>
            <a:ext cx="11697057" cy="4278094"/>
          </a:xfrm>
          <a:prstGeom prst="rect">
            <a:avLst/>
          </a:prstGeom>
          <a:noFill/>
        </p:spPr>
        <p:txBody>
          <a:bodyPr wrap="square">
            <a:spAutoFit/>
          </a:bodyPr>
          <a:lstStyle/>
          <a:p>
            <a:r>
              <a:rPr lang="en-US" altLang="ja-JP" sz="2400" dirty="0">
                <a:latin typeface="Yu Gothic UI Semibold" panose="020B0700000000000000" pitchFamily="50" charset="-128"/>
                <a:ea typeface="Yu Gothic UI Semibold" panose="020B0700000000000000" pitchFamily="50" charset="-128"/>
              </a:rPr>
              <a:t>In recent years, image generation using Diffusion Models has attracted significant attention.</a:t>
            </a:r>
          </a:p>
          <a:p>
            <a:endParaRPr lang="en-US" altLang="ja-JP" sz="2000" dirty="0">
              <a:latin typeface="Yu Gothic UI Semibold" panose="020B0700000000000000" pitchFamily="50" charset="-128"/>
              <a:ea typeface="Yu Gothic UI Semibold" panose="020B0700000000000000" pitchFamily="50" charset="-128"/>
            </a:endParaRPr>
          </a:p>
          <a:p>
            <a:endParaRPr lang="en-US" altLang="ja-JP" sz="2000" dirty="0">
              <a:latin typeface="Yu Gothic UI Semibold" panose="020B0700000000000000" pitchFamily="50" charset="-128"/>
              <a:ea typeface="Yu Gothic UI Semibold" panose="020B0700000000000000" pitchFamily="50" charset="-128"/>
            </a:endParaRPr>
          </a:p>
          <a:p>
            <a:r>
              <a:rPr lang="en-US" altLang="ja-JP" sz="2400" dirty="0">
                <a:latin typeface="Yu Gothic UI Semibold" panose="020B0700000000000000" pitchFamily="50" charset="-128"/>
                <a:ea typeface="Yu Gothic UI Semibold" panose="020B0700000000000000" pitchFamily="50" charset="-128"/>
              </a:rPr>
              <a:t>These models typically use text or images as input. </a:t>
            </a:r>
          </a:p>
          <a:p>
            <a:endParaRPr lang="en-US" altLang="ja-JP" sz="2000" dirty="0">
              <a:latin typeface="Yu Gothic UI Semibold" panose="020B0700000000000000" pitchFamily="50" charset="-128"/>
              <a:ea typeface="Yu Gothic UI Semibold" panose="020B0700000000000000" pitchFamily="50" charset="-128"/>
            </a:endParaRPr>
          </a:p>
          <a:p>
            <a:r>
              <a:rPr lang="en-US" altLang="ja-JP" sz="2000" dirty="0">
                <a:latin typeface="Yu Gothic UI Semibold" panose="020B0700000000000000" pitchFamily="50" charset="-128"/>
                <a:ea typeface="Yu Gothic UI Semibold" panose="020B0700000000000000" pitchFamily="50" charset="-128"/>
              </a:rPr>
              <a:t>Using text as input for image generation:</a:t>
            </a:r>
          </a:p>
          <a:p>
            <a:r>
              <a:rPr lang="en-US" altLang="ja-JP" sz="2000" dirty="0">
                <a:latin typeface="Yu Gothic UI Semibold" panose="020B0700000000000000" pitchFamily="50" charset="-128"/>
                <a:ea typeface="Yu Gothic UI Semibold" panose="020B0700000000000000" pitchFamily="50" charset="-128"/>
              </a:rPr>
              <a:t>there can be discrepancies between the generated image and the intended image.</a:t>
            </a:r>
          </a:p>
          <a:p>
            <a:endParaRPr lang="en-US" altLang="ja-JP" sz="2000" dirty="0">
              <a:latin typeface="Yu Gothic UI Semibold" panose="020B0700000000000000" pitchFamily="50" charset="-128"/>
              <a:ea typeface="Yu Gothic UI Semibold" panose="020B0700000000000000" pitchFamily="50" charset="-128"/>
            </a:endParaRPr>
          </a:p>
          <a:p>
            <a:r>
              <a:rPr lang="en-US" altLang="ja-JP" sz="2000" dirty="0">
                <a:latin typeface="Yu Gothic UI Semibold" panose="020B0700000000000000" pitchFamily="50" charset="-128"/>
                <a:ea typeface="Yu Gothic UI Semibold" panose="020B0700000000000000" pitchFamily="50" charset="-128"/>
              </a:rPr>
              <a:t>Using images as input:</a:t>
            </a:r>
          </a:p>
          <a:p>
            <a:r>
              <a:rPr lang="en-US" altLang="ja-JP" sz="2000" dirty="0">
                <a:latin typeface="Yu Gothic UI Semibold" panose="020B0700000000000000" pitchFamily="50" charset="-128"/>
                <a:ea typeface="Yu Gothic UI Semibold" panose="020B0700000000000000" pitchFamily="50" charset="-128"/>
              </a:rPr>
              <a:t>It is possible to generate images that closely match the desired result.</a:t>
            </a:r>
          </a:p>
          <a:p>
            <a:r>
              <a:rPr lang="en-US" altLang="ja-JP" sz="2000" dirty="0">
                <a:latin typeface="Yu Gothic UI Semibold" panose="020B0700000000000000" pitchFamily="50" charset="-128"/>
                <a:ea typeface="Yu Gothic UI Semibold" panose="020B0700000000000000" pitchFamily="50" charset="-128"/>
              </a:rPr>
              <a:t>However, it is difficult to prepare appropriate input images.</a:t>
            </a:r>
          </a:p>
          <a:p>
            <a:endParaRPr lang="ja-JP" altLang="en-US" sz="2000" dirty="0">
              <a:latin typeface="Yu Gothic UI Semibold" panose="020B0700000000000000" pitchFamily="50" charset="-128"/>
              <a:ea typeface="Yu Gothic UI Semibold" panose="020B0700000000000000" pitchFamily="50" charset="-128"/>
            </a:endParaRPr>
          </a:p>
        </p:txBody>
      </p:sp>
      <p:sp>
        <p:nvSpPr>
          <p:cNvPr id="2" name="スライド番号プレースホルダー 17">
            <a:extLst>
              <a:ext uri="{FF2B5EF4-FFF2-40B4-BE49-F238E27FC236}">
                <a16:creationId xmlns:a16="http://schemas.microsoft.com/office/drawing/2014/main" id="{B2FCD3C6-F0A0-5A4B-C14D-55155BF0D898}"/>
              </a:ext>
            </a:extLst>
          </p:cNvPr>
          <p:cNvSpPr>
            <a:spLocks noGrp="1"/>
          </p:cNvSpPr>
          <p:nvPr>
            <p:ph type="sldNum" sz="quarter" idx="12"/>
          </p:nvPr>
        </p:nvSpPr>
        <p:spPr>
          <a:xfrm>
            <a:off x="8610600" y="6356354"/>
            <a:ext cx="2743200" cy="365125"/>
          </a:xfrm>
        </p:spPr>
        <p:txBody>
          <a:bodyPr/>
          <a:lstStyle/>
          <a:p>
            <a:fld id="{86DB81D5-40F9-4C3D-9CD4-6800D23EE77D}" type="slidenum">
              <a:rPr kumimoji="1" lang="ja-JP" altLang="en-US" smtClean="0"/>
              <a:t>1</a:t>
            </a:fld>
            <a:endParaRPr kumimoji="1" lang="ja-JP" altLang="en-US" dirty="0"/>
          </a:p>
        </p:txBody>
      </p:sp>
    </p:spTree>
    <p:extLst>
      <p:ext uri="{BB962C8B-B14F-4D97-AF65-F5344CB8AC3E}">
        <p14:creationId xmlns:p14="http://schemas.microsoft.com/office/powerpoint/2010/main" val="2157704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87B170C7-E09C-469C-81DC-BD4D78433109}"/>
              </a:ext>
            </a:extLst>
          </p:cNvPr>
          <p:cNvSpPr txBox="1"/>
          <p:nvPr/>
        </p:nvSpPr>
        <p:spPr>
          <a:xfrm>
            <a:off x="0" y="0"/>
            <a:ext cx="7342909" cy="369332"/>
          </a:xfrm>
          <a:prstGeom prst="rect">
            <a:avLst/>
          </a:prstGeom>
          <a:noFill/>
        </p:spPr>
        <p:txBody>
          <a:bodyPr wrap="square" rtlCol="0">
            <a:spAutoFit/>
          </a:bodyPr>
          <a:lstStyle/>
          <a:p>
            <a:r>
              <a:rPr lang="en-US" altLang="ja-JP" dirty="0"/>
              <a:t> </a:t>
            </a:r>
            <a:endParaRPr lang="ja-JP" altLang="en-US" dirty="0"/>
          </a:p>
        </p:txBody>
      </p:sp>
      <p:sp>
        <p:nvSpPr>
          <p:cNvPr id="8" name="テキスト ボックス 7">
            <a:extLst>
              <a:ext uri="{FF2B5EF4-FFF2-40B4-BE49-F238E27FC236}">
                <a16:creationId xmlns:a16="http://schemas.microsoft.com/office/drawing/2014/main" id="{ED296AF3-7FD0-4FE3-A3F4-EE192EC95312}"/>
              </a:ext>
            </a:extLst>
          </p:cNvPr>
          <p:cNvSpPr txBox="1"/>
          <p:nvPr/>
        </p:nvSpPr>
        <p:spPr>
          <a:xfrm>
            <a:off x="221674" y="261443"/>
            <a:ext cx="3999345" cy="769441"/>
          </a:xfrm>
          <a:prstGeom prst="rect">
            <a:avLst/>
          </a:prstGeom>
          <a:noFill/>
        </p:spPr>
        <p:txBody>
          <a:bodyPr wrap="square" rtlCol="0">
            <a:spAutoFit/>
          </a:bodyPr>
          <a:lstStyle/>
          <a:p>
            <a:r>
              <a:rPr lang="en-US" altLang="ja-JP" sz="4400" dirty="0">
                <a:solidFill>
                  <a:schemeClr val="bg1"/>
                </a:solidFill>
                <a:latin typeface="Yu Gothic UI Semibold" panose="020B0700000000000000" pitchFamily="50" charset="-128"/>
                <a:ea typeface="Yu Gothic UI Semibold" panose="020B0700000000000000" pitchFamily="50" charset="-128"/>
              </a:rPr>
              <a:t>Introduction</a:t>
            </a:r>
          </a:p>
        </p:txBody>
      </p:sp>
      <p:sp>
        <p:nvSpPr>
          <p:cNvPr id="5" name="テキスト ボックス 4">
            <a:extLst>
              <a:ext uri="{FF2B5EF4-FFF2-40B4-BE49-F238E27FC236}">
                <a16:creationId xmlns:a16="http://schemas.microsoft.com/office/drawing/2014/main" id="{924D1247-7C89-DD7D-714C-7AEF87B75DE1}"/>
              </a:ext>
            </a:extLst>
          </p:cNvPr>
          <p:cNvSpPr txBox="1"/>
          <p:nvPr/>
        </p:nvSpPr>
        <p:spPr>
          <a:xfrm>
            <a:off x="247471" y="1713367"/>
            <a:ext cx="11697057" cy="1815882"/>
          </a:xfrm>
          <a:prstGeom prst="rect">
            <a:avLst/>
          </a:prstGeom>
          <a:noFill/>
        </p:spPr>
        <p:txBody>
          <a:bodyPr wrap="square">
            <a:spAutoFit/>
          </a:bodyPr>
          <a:lstStyle/>
          <a:p>
            <a:r>
              <a:rPr lang="en-US" altLang="ja-JP" sz="2400" dirty="0">
                <a:latin typeface="Yu Gothic UI Semibold" panose="020B0700000000000000" pitchFamily="50" charset="-128"/>
                <a:ea typeface="Yu Gothic UI Semibold" panose="020B0700000000000000" pitchFamily="50" charset="-128"/>
              </a:rPr>
              <a:t>In this study, we propose a method for image generation using 8x8 pixel art, which can be easily created by anyone, as input.</a:t>
            </a:r>
          </a:p>
          <a:p>
            <a:endParaRPr lang="en-US" altLang="ja-JP" sz="2000" dirty="0">
              <a:latin typeface="Yu Gothic UI Semibold" panose="020B0700000000000000" pitchFamily="50" charset="-128"/>
              <a:ea typeface="Yu Gothic UI Semibold" panose="020B0700000000000000" pitchFamily="50" charset="-128"/>
            </a:endParaRPr>
          </a:p>
          <a:p>
            <a:endParaRPr lang="en-US" altLang="ja-JP" sz="2000" dirty="0">
              <a:latin typeface="Yu Gothic UI Semibold" panose="020B0700000000000000" pitchFamily="50" charset="-128"/>
              <a:ea typeface="Yu Gothic UI Semibold" panose="020B0700000000000000" pitchFamily="50" charset="-128"/>
            </a:endParaRPr>
          </a:p>
          <a:p>
            <a:r>
              <a:rPr lang="en-US" altLang="ja-JP" sz="2400" dirty="0">
                <a:latin typeface="Yu Gothic UI Semibold" panose="020B0700000000000000" pitchFamily="50" charset="-128"/>
                <a:ea typeface="Yu Gothic UI Semibold" panose="020B0700000000000000" pitchFamily="50" charset="-128"/>
              </a:rPr>
              <a:t>Specifically, we aim to generate 40x40 pixel art. </a:t>
            </a:r>
          </a:p>
        </p:txBody>
      </p:sp>
      <p:sp>
        <p:nvSpPr>
          <p:cNvPr id="2" name="テキスト ボックス 1">
            <a:extLst>
              <a:ext uri="{FF2B5EF4-FFF2-40B4-BE49-F238E27FC236}">
                <a16:creationId xmlns:a16="http://schemas.microsoft.com/office/drawing/2014/main" id="{65CDC202-2DBA-A782-A868-85D4ADE704BE}"/>
              </a:ext>
            </a:extLst>
          </p:cNvPr>
          <p:cNvSpPr txBox="1"/>
          <p:nvPr/>
        </p:nvSpPr>
        <p:spPr>
          <a:xfrm>
            <a:off x="3364165" y="4054331"/>
            <a:ext cx="810186" cy="369332"/>
          </a:xfrm>
          <a:prstGeom prst="rect">
            <a:avLst/>
          </a:prstGeom>
          <a:noFill/>
        </p:spPr>
        <p:txBody>
          <a:bodyPr wrap="square" rtlCol="0">
            <a:spAutoFit/>
          </a:bodyPr>
          <a:lstStyle/>
          <a:p>
            <a:r>
              <a:rPr kumimoji="1" lang="en-US" altLang="ja-JP" dirty="0">
                <a:latin typeface="Yu Gothic UI Semibold" panose="020B0700000000000000" pitchFamily="50" charset="-128"/>
                <a:ea typeface="Yu Gothic UI Semibold" panose="020B0700000000000000" pitchFamily="50" charset="-128"/>
              </a:rPr>
              <a:t>input</a:t>
            </a:r>
            <a:endParaRPr kumimoji="1" lang="ja-JP" altLang="en-US" dirty="0">
              <a:latin typeface="Yu Gothic UI Semibold" panose="020B0700000000000000" pitchFamily="50" charset="-128"/>
              <a:ea typeface="Yu Gothic UI Semibold" panose="020B0700000000000000" pitchFamily="50" charset="-128"/>
            </a:endParaRPr>
          </a:p>
        </p:txBody>
      </p:sp>
      <p:pic>
        <p:nvPicPr>
          <p:cNvPr id="4" name="図 3">
            <a:extLst>
              <a:ext uri="{FF2B5EF4-FFF2-40B4-BE49-F238E27FC236}">
                <a16:creationId xmlns:a16="http://schemas.microsoft.com/office/drawing/2014/main" id="{5F4F0ACA-D06A-81D3-67BE-45D2356D0F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18954" y="4691557"/>
            <a:ext cx="1905000" cy="1905000"/>
          </a:xfrm>
          <a:prstGeom prst="rect">
            <a:avLst/>
          </a:prstGeom>
        </p:spPr>
      </p:pic>
      <p:pic>
        <p:nvPicPr>
          <p:cNvPr id="6" name="図 5" descr="挿絵 が含まれている画像&#10;&#10;自動的に生成された説明">
            <a:extLst>
              <a:ext uri="{FF2B5EF4-FFF2-40B4-BE49-F238E27FC236}">
                <a16:creationId xmlns:a16="http://schemas.microsoft.com/office/drawing/2014/main" id="{57253CF9-8502-421B-D0D9-1A704F3F9E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09519" y="4691557"/>
            <a:ext cx="1905000" cy="1905000"/>
          </a:xfrm>
          <a:prstGeom prst="rect">
            <a:avLst/>
          </a:prstGeom>
        </p:spPr>
      </p:pic>
      <p:sp>
        <p:nvSpPr>
          <p:cNvPr id="9" name="テキスト ボックス 8">
            <a:extLst>
              <a:ext uri="{FF2B5EF4-FFF2-40B4-BE49-F238E27FC236}">
                <a16:creationId xmlns:a16="http://schemas.microsoft.com/office/drawing/2014/main" id="{B0B7DBDB-7BE4-8497-8140-B5B7F62A7802}"/>
              </a:ext>
            </a:extLst>
          </p:cNvPr>
          <p:cNvSpPr txBox="1"/>
          <p:nvPr/>
        </p:nvSpPr>
        <p:spPr>
          <a:xfrm>
            <a:off x="7805253" y="4054331"/>
            <a:ext cx="913531" cy="369332"/>
          </a:xfrm>
          <a:prstGeom prst="rect">
            <a:avLst/>
          </a:prstGeom>
          <a:noFill/>
        </p:spPr>
        <p:txBody>
          <a:bodyPr wrap="square" rtlCol="0">
            <a:spAutoFit/>
          </a:bodyPr>
          <a:lstStyle/>
          <a:p>
            <a:pPr algn="ctr"/>
            <a:r>
              <a:rPr lang="en-US" altLang="ja-JP" dirty="0">
                <a:latin typeface="Yu Gothic UI Semibold" panose="020B0700000000000000" pitchFamily="50" charset="-128"/>
                <a:ea typeface="Yu Gothic UI Semibold" panose="020B0700000000000000" pitchFamily="50" charset="-128"/>
              </a:rPr>
              <a:t>target</a:t>
            </a:r>
            <a:endParaRPr kumimoji="1" lang="ja-JP" altLang="en-US" dirty="0">
              <a:latin typeface="Yu Gothic UI Semibold" panose="020B0700000000000000" pitchFamily="50" charset="-128"/>
              <a:ea typeface="Yu Gothic UI Semibold" panose="020B0700000000000000" pitchFamily="50" charset="-128"/>
            </a:endParaRPr>
          </a:p>
        </p:txBody>
      </p:sp>
      <p:sp>
        <p:nvSpPr>
          <p:cNvPr id="10" name="二等辺三角形 9">
            <a:extLst>
              <a:ext uri="{FF2B5EF4-FFF2-40B4-BE49-F238E27FC236}">
                <a16:creationId xmlns:a16="http://schemas.microsoft.com/office/drawing/2014/main" id="{002E55F5-82CC-4E55-8CF6-AF16DF4E8D48}"/>
              </a:ext>
            </a:extLst>
          </p:cNvPr>
          <p:cNvSpPr/>
          <p:nvPr/>
        </p:nvSpPr>
        <p:spPr>
          <a:xfrm rot="5400000">
            <a:off x="5535783" y="5312981"/>
            <a:ext cx="1019504" cy="662152"/>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スライド番号プレースホルダー 17">
            <a:extLst>
              <a:ext uri="{FF2B5EF4-FFF2-40B4-BE49-F238E27FC236}">
                <a16:creationId xmlns:a16="http://schemas.microsoft.com/office/drawing/2014/main" id="{6874CDFF-73D6-BCD3-3A00-75A6A3D81EAE}"/>
              </a:ext>
            </a:extLst>
          </p:cNvPr>
          <p:cNvSpPr>
            <a:spLocks noGrp="1"/>
          </p:cNvSpPr>
          <p:nvPr>
            <p:ph type="sldNum" sz="quarter" idx="12"/>
          </p:nvPr>
        </p:nvSpPr>
        <p:spPr>
          <a:xfrm>
            <a:off x="8610600" y="6356354"/>
            <a:ext cx="2743200" cy="365125"/>
          </a:xfrm>
        </p:spPr>
        <p:txBody>
          <a:bodyPr/>
          <a:lstStyle/>
          <a:p>
            <a:fld id="{86DB81D5-40F9-4C3D-9CD4-6800D23EE77D}" type="slidenum">
              <a:rPr kumimoji="1" lang="ja-JP" altLang="en-US" smtClean="0"/>
              <a:t>2</a:t>
            </a:fld>
            <a:endParaRPr kumimoji="1" lang="ja-JP" altLang="en-US"/>
          </a:p>
        </p:txBody>
      </p:sp>
    </p:spTree>
    <p:extLst>
      <p:ext uri="{BB962C8B-B14F-4D97-AF65-F5344CB8AC3E}">
        <p14:creationId xmlns:p14="http://schemas.microsoft.com/office/powerpoint/2010/main" val="3988867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87B170C7-E09C-469C-81DC-BD4D78433109}"/>
              </a:ext>
            </a:extLst>
          </p:cNvPr>
          <p:cNvSpPr txBox="1"/>
          <p:nvPr/>
        </p:nvSpPr>
        <p:spPr>
          <a:xfrm>
            <a:off x="0" y="0"/>
            <a:ext cx="7342909" cy="369332"/>
          </a:xfrm>
          <a:prstGeom prst="rect">
            <a:avLst/>
          </a:prstGeom>
          <a:noFill/>
        </p:spPr>
        <p:txBody>
          <a:bodyPr wrap="square" rtlCol="0">
            <a:spAutoFit/>
          </a:bodyPr>
          <a:lstStyle/>
          <a:p>
            <a:r>
              <a:rPr lang="en-US" altLang="ja-JP" dirty="0"/>
              <a:t> </a:t>
            </a:r>
            <a:endParaRPr lang="ja-JP" altLang="en-US" dirty="0"/>
          </a:p>
        </p:txBody>
      </p:sp>
      <p:sp>
        <p:nvSpPr>
          <p:cNvPr id="8" name="テキスト ボックス 7">
            <a:extLst>
              <a:ext uri="{FF2B5EF4-FFF2-40B4-BE49-F238E27FC236}">
                <a16:creationId xmlns:a16="http://schemas.microsoft.com/office/drawing/2014/main" id="{ED296AF3-7FD0-4FE3-A3F4-EE192EC95312}"/>
              </a:ext>
            </a:extLst>
          </p:cNvPr>
          <p:cNvSpPr txBox="1"/>
          <p:nvPr/>
        </p:nvSpPr>
        <p:spPr>
          <a:xfrm>
            <a:off x="221674" y="261443"/>
            <a:ext cx="3999345" cy="769441"/>
          </a:xfrm>
          <a:prstGeom prst="rect">
            <a:avLst/>
          </a:prstGeom>
          <a:noFill/>
        </p:spPr>
        <p:txBody>
          <a:bodyPr wrap="square" rtlCol="0">
            <a:spAutoFit/>
          </a:bodyPr>
          <a:lstStyle/>
          <a:p>
            <a:r>
              <a:rPr lang="en-US" altLang="ja-JP" sz="4400" dirty="0">
                <a:solidFill>
                  <a:schemeClr val="bg1"/>
                </a:solidFill>
                <a:latin typeface="Yu Gothic UI Semibold" panose="020B0700000000000000" pitchFamily="50" charset="-128"/>
                <a:ea typeface="Yu Gothic UI Semibold" panose="020B0700000000000000" pitchFamily="50" charset="-128"/>
              </a:rPr>
              <a:t>Method</a:t>
            </a:r>
          </a:p>
        </p:txBody>
      </p:sp>
      <p:sp>
        <p:nvSpPr>
          <p:cNvPr id="2" name="スライド番号プレースホルダー 17">
            <a:extLst>
              <a:ext uri="{FF2B5EF4-FFF2-40B4-BE49-F238E27FC236}">
                <a16:creationId xmlns:a16="http://schemas.microsoft.com/office/drawing/2014/main" id="{9EC8F246-75E8-C290-F91F-A48AC12A65EB}"/>
              </a:ext>
            </a:extLst>
          </p:cNvPr>
          <p:cNvSpPr>
            <a:spLocks noGrp="1"/>
          </p:cNvSpPr>
          <p:nvPr>
            <p:ph type="sldNum" sz="quarter" idx="12"/>
          </p:nvPr>
        </p:nvSpPr>
        <p:spPr>
          <a:xfrm>
            <a:off x="8610600" y="6356354"/>
            <a:ext cx="2743200" cy="365125"/>
          </a:xfrm>
        </p:spPr>
        <p:txBody>
          <a:bodyPr/>
          <a:lstStyle/>
          <a:p>
            <a:fld id="{86DB81D5-40F9-4C3D-9CD4-6800D23EE77D}" type="slidenum">
              <a:rPr kumimoji="1" lang="ja-JP" altLang="en-US" smtClean="0"/>
              <a:t>3</a:t>
            </a:fld>
            <a:endParaRPr kumimoji="1" lang="ja-JP" altLang="en-US"/>
          </a:p>
        </p:txBody>
      </p:sp>
      <p:pic>
        <p:nvPicPr>
          <p:cNvPr id="6" name="図 5">
            <a:extLst>
              <a:ext uri="{FF2B5EF4-FFF2-40B4-BE49-F238E27FC236}">
                <a16:creationId xmlns:a16="http://schemas.microsoft.com/office/drawing/2014/main" id="{3B69045F-A2C8-15CF-F29C-4C8D04A5504D}"/>
              </a:ext>
            </a:extLst>
          </p:cNvPr>
          <p:cNvPicPr>
            <a:picLocks noChangeAspect="1"/>
          </p:cNvPicPr>
          <p:nvPr/>
        </p:nvPicPr>
        <p:blipFill>
          <a:blip r:embed="rId3"/>
          <a:stretch>
            <a:fillRect/>
          </a:stretch>
        </p:blipFill>
        <p:spPr>
          <a:xfrm>
            <a:off x="96334" y="2102727"/>
            <a:ext cx="7429074" cy="1950473"/>
          </a:xfrm>
          <a:prstGeom prst="rect">
            <a:avLst/>
          </a:prstGeom>
        </p:spPr>
      </p:pic>
      <p:sp>
        <p:nvSpPr>
          <p:cNvPr id="9" name="テキスト ボックス 8">
            <a:extLst>
              <a:ext uri="{FF2B5EF4-FFF2-40B4-BE49-F238E27FC236}">
                <a16:creationId xmlns:a16="http://schemas.microsoft.com/office/drawing/2014/main" id="{1E2C9012-98D4-42B4-19C4-87374E18F6C4}"/>
              </a:ext>
            </a:extLst>
          </p:cNvPr>
          <p:cNvSpPr txBox="1"/>
          <p:nvPr/>
        </p:nvSpPr>
        <p:spPr>
          <a:xfrm>
            <a:off x="221674" y="1567429"/>
            <a:ext cx="2962960" cy="400110"/>
          </a:xfrm>
          <a:prstGeom prst="rect">
            <a:avLst/>
          </a:prstGeom>
          <a:noFill/>
        </p:spPr>
        <p:txBody>
          <a:bodyPr wrap="square" rtlCol="0">
            <a:spAutoFit/>
          </a:bodyPr>
          <a:lstStyle/>
          <a:p>
            <a:r>
              <a:rPr kumimoji="1" lang="en-US" altLang="ja-JP" sz="2000" dirty="0" err="1">
                <a:latin typeface="Yu Gothic UI Semibold" panose="020B0700000000000000" pitchFamily="50" charset="-128"/>
                <a:ea typeface="Yu Gothic UI Semibold" panose="020B0700000000000000" pitchFamily="50" charset="-128"/>
              </a:rPr>
              <a:t>DiffusionModel</a:t>
            </a:r>
            <a:r>
              <a:rPr kumimoji="1" lang="en-US" altLang="ja-JP" sz="2000" dirty="0">
                <a:latin typeface="Yu Gothic UI Semibold" panose="020B0700000000000000" pitchFamily="50" charset="-128"/>
                <a:ea typeface="Yu Gothic UI Semibold" panose="020B0700000000000000" pitchFamily="50" charset="-128"/>
              </a:rPr>
              <a:t>(DDPM)</a:t>
            </a:r>
            <a:endParaRPr kumimoji="1" lang="ja-JP" altLang="en-US" sz="2000" dirty="0">
              <a:latin typeface="Yu Gothic UI Semibold" panose="020B0700000000000000" pitchFamily="50" charset="-128"/>
              <a:ea typeface="Yu Gothic UI Semibold" panose="020B0700000000000000" pitchFamily="50" charset="-128"/>
            </a:endParaRPr>
          </a:p>
        </p:txBody>
      </p:sp>
      <p:pic>
        <p:nvPicPr>
          <p:cNvPr id="1026" name="Picture 2">
            <a:extLst>
              <a:ext uri="{FF2B5EF4-FFF2-40B4-BE49-F238E27FC236}">
                <a16:creationId xmlns:a16="http://schemas.microsoft.com/office/drawing/2014/main" id="{86654F5F-C166-6490-CEFF-90E2847DAA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72048" y="4540634"/>
            <a:ext cx="4677103" cy="222893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5" name="テキスト ボックス 14">
                <a:extLst>
                  <a:ext uri="{FF2B5EF4-FFF2-40B4-BE49-F238E27FC236}">
                    <a16:creationId xmlns:a16="http://schemas.microsoft.com/office/drawing/2014/main" id="{511B7917-22F7-B3DB-8933-649D44E1F562}"/>
                  </a:ext>
                </a:extLst>
              </p:cNvPr>
              <p:cNvSpPr txBox="1"/>
              <p:nvPr/>
            </p:nvSpPr>
            <p:spPr>
              <a:xfrm>
                <a:off x="211678" y="4269241"/>
                <a:ext cx="6111764" cy="2089739"/>
              </a:xfrm>
              <a:prstGeom prst="rect">
                <a:avLst/>
              </a:prstGeom>
              <a:noFill/>
            </p:spPr>
            <p:txBody>
              <a:bodyPr wrap="square">
                <a:spAutoFit/>
              </a:bodyPr>
              <a:lstStyle/>
              <a:p>
                <a:r>
                  <a:rPr lang="en-US" altLang="ja-JP" dirty="0">
                    <a:latin typeface="Yu Gothic UI Semibold" panose="020B0700000000000000" pitchFamily="50" charset="-128"/>
                    <a:ea typeface="Yu Gothic UI Semibold" panose="020B0700000000000000" pitchFamily="50" charset="-128"/>
                  </a:rPr>
                  <a:t>Take a sample ​</a:t>
                </a:r>
                <a:r>
                  <a:rPr lang="en-US" altLang="ja-JP" dirty="0">
                    <a:ea typeface="Yu Gothic UI Semibold" panose="020B0700000000000000" pitchFamily="50" charset="-128"/>
                  </a:rPr>
                  <a:t> </a:t>
                </a:r>
                <a14:m>
                  <m:oMath xmlns:m="http://schemas.openxmlformats.org/officeDocument/2006/math">
                    <m:sSub>
                      <m:sSubPr>
                        <m:ctrlPr>
                          <a:rPr lang="en-US" altLang="ja-JP" i="1" smtClean="0">
                            <a:latin typeface="Cambria Math" panose="02040503050406030204" pitchFamily="18" charset="0"/>
                            <a:ea typeface="Yu Gothic UI Semibold" panose="020B0700000000000000" pitchFamily="50" charset="-128"/>
                          </a:rPr>
                        </m:ctrlPr>
                      </m:sSubPr>
                      <m:e>
                        <m:r>
                          <a:rPr lang="en-US" altLang="ja-JP" b="0" i="1" smtClean="0">
                            <a:latin typeface="Cambria Math" panose="02040503050406030204" pitchFamily="18" charset="0"/>
                            <a:ea typeface="Yu Gothic UI Semibold" panose="020B0700000000000000" pitchFamily="50" charset="-128"/>
                          </a:rPr>
                          <m:t>𝑥</m:t>
                        </m:r>
                      </m:e>
                      <m:sub>
                        <m:r>
                          <a:rPr lang="en-US" altLang="ja-JP" b="0" i="1" smtClean="0">
                            <a:latin typeface="Cambria Math" panose="02040503050406030204" pitchFamily="18" charset="0"/>
                            <a:ea typeface="Yu Gothic UI Semibold" panose="020B0700000000000000" pitchFamily="50" charset="-128"/>
                          </a:rPr>
                          <m:t>0</m:t>
                        </m:r>
                      </m:sub>
                    </m:sSub>
                  </m:oMath>
                </a14:m>
                <a:r>
                  <a:rPr lang="en-US" altLang="ja-JP" dirty="0">
                    <a:latin typeface="Yu Gothic UI Semibold" panose="020B0700000000000000" pitchFamily="50" charset="-128"/>
                    <a:ea typeface="Yu Gothic UI Semibold" panose="020B0700000000000000" pitchFamily="50" charset="-128"/>
                  </a:rPr>
                  <a:t> from the data, choose an arbitrary timestep </a:t>
                </a:r>
                <a14:m>
                  <m:oMath xmlns:m="http://schemas.openxmlformats.org/officeDocument/2006/math">
                    <m:r>
                      <a:rPr lang="en-US" altLang="ja-JP" b="0" i="1" smtClean="0">
                        <a:latin typeface="Cambria Math" panose="02040503050406030204" pitchFamily="18" charset="0"/>
                        <a:ea typeface="Yu Gothic UI Semibold" panose="020B0700000000000000" pitchFamily="50" charset="-128"/>
                      </a:rPr>
                      <m:t>𝑡</m:t>
                    </m:r>
                  </m:oMath>
                </a14:m>
                <a:r>
                  <a:rPr lang="en-US" altLang="ja-JP" dirty="0">
                    <a:latin typeface="Yu Gothic UI Semibold" panose="020B0700000000000000" pitchFamily="50" charset="-128"/>
                    <a:ea typeface="Yu Gothic UI Semibold" panose="020B0700000000000000" pitchFamily="50" charset="-128"/>
                  </a:rPr>
                  <a:t>, and generate Gaussian noise </a:t>
                </a:r>
                <a14:m>
                  <m:oMath xmlns:m="http://schemas.openxmlformats.org/officeDocument/2006/math">
                    <m:r>
                      <a:rPr lang="ja-JP" altLang="en-US" i="1" smtClean="0">
                        <a:latin typeface="Cambria Math" panose="02040503050406030204" pitchFamily="18" charset="0"/>
                        <a:ea typeface="Yu Gothic UI Semibold" panose="020B0700000000000000" pitchFamily="50" charset="-128"/>
                      </a:rPr>
                      <m:t>𝜖</m:t>
                    </m:r>
                  </m:oMath>
                </a14:m>
                <a:r>
                  <a:rPr lang="el-GR" altLang="ja-JP" dirty="0">
                    <a:latin typeface="Yu Gothic UI Semibold" panose="020B0700000000000000" pitchFamily="50" charset="-128"/>
                    <a:ea typeface="Yu Gothic UI Semibold" panose="020B0700000000000000" pitchFamily="50" charset="-128"/>
                  </a:rPr>
                  <a:t>.</a:t>
                </a:r>
                <a:endParaRPr lang="en-US" altLang="ja-JP" dirty="0">
                  <a:latin typeface="Yu Gothic UI Semibold" panose="020B0700000000000000" pitchFamily="50" charset="-128"/>
                  <a:ea typeface="Yu Gothic UI Semibold" panose="020B0700000000000000" pitchFamily="50" charset="-128"/>
                </a:endParaRPr>
              </a:p>
              <a:p>
                <a:r>
                  <a:rPr lang="en-US" altLang="ja-JP" dirty="0">
                    <a:latin typeface="Yu Gothic UI Semibold" panose="020B0700000000000000" pitchFamily="50" charset="-128"/>
                    <a:ea typeface="Yu Gothic UI Semibold" panose="020B0700000000000000" pitchFamily="50" charset="-128"/>
                  </a:rPr>
                  <a:t>Using </a:t>
                </a:r>
                <a14:m>
                  <m:oMath xmlns:m="http://schemas.openxmlformats.org/officeDocument/2006/math">
                    <m:sSub>
                      <m:sSubPr>
                        <m:ctrlPr>
                          <a:rPr lang="en-US" altLang="ja-JP" i="1">
                            <a:latin typeface="Cambria Math" panose="02040503050406030204" pitchFamily="18" charset="0"/>
                            <a:ea typeface="Yu Gothic UI Semibold" panose="020B0700000000000000" pitchFamily="50" charset="-128"/>
                          </a:rPr>
                        </m:ctrlPr>
                      </m:sSubPr>
                      <m:e>
                        <m:r>
                          <a:rPr lang="en-US" altLang="ja-JP" i="1">
                            <a:latin typeface="Cambria Math" panose="02040503050406030204" pitchFamily="18" charset="0"/>
                            <a:ea typeface="Yu Gothic UI Semibold" panose="020B0700000000000000" pitchFamily="50" charset="-128"/>
                          </a:rPr>
                          <m:t>𝑥</m:t>
                        </m:r>
                      </m:e>
                      <m:sub>
                        <m:r>
                          <a:rPr lang="en-US" altLang="ja-JP" i="1">
                            <a:latin typeface="Cambria Math" panose="02040503050406030204" pitchFamily="18" charset="0"/>
                            <a:ea typeface="Yu Gothic UI Semibold" panose="020B0700000000000000" pitchFamily="50" charset="-128"/>
                          </a:rPr>
                          <m:t>0</m:t>
                        </m:r>
                      </m:sub>
                    </m:sSub>
                    <m:r>
                      <a:rPr lang="en-US" altLang="ja-JP" i="1">
                        <a:latin typeface="Cambria Math" panose="02040503050406030204" pitchFamily="18" charset="0"/>
                        <a:ea typeface="Yu Gothic UI Semibold" panose="020B0700000000000000" pitchFamily="50" charset="-128"/>
                      </a:rPr>
                      <m:t> </m:t>
                    </m:r>
                  </m:oMath>
                </a14:m>
                <a:r>
                  <a:rPr lang="en-US" altLang="ja-JP" dirty="0">
                    <a:latin typeface="Yu Gothic UI Semibold" panose="020B0700000000000000" pitchFamily="50" charset="-128"/>
                    <a:ea typeface="Yu Gothic UI Semibold" panose="020B0700000000000000" pitchFamily="50" charset="-128"/>
                  </a:rPr>
                  <a:t>​ and </a:t>
                </a:r>
                <a14:m>
                  <m:oMath xmlns:m="http://schemas.openxmlformats.org/officeDocument/2006/math">
                    <m:r>
                      <a:rPr lang="ja-JP" altLang="en-US" i="1">
                        <a:latin typeface="Cambria Math" panose="02040503050406030204" pitchFamily="18" charset="0"/>
                        <a:ea typeface="Yu Gothic UI Semibold" panose="020B0700000000000000" pitchFamily="50" charset="-128"/>
                      </a:rPr>
                      <m:t>𝜖</m:t>
                    </m:r>
                  </m:oMath>
                </a14:m>
                <a:r>
                  <a:rPr lang="el-GR" altLang="ja-JP" dirty="0">
                    <a:latin typeface="Yu Gothic UI Semibold" panose="020B0700000000000000" pitchFamily="50" charset="-128"/>
                    <a:ea typeface="Yu Gothic UI Semibold" panose="020B0700000000000000" pitchFamily="50" charset="-128"/>
                  </a:rPr>
                  <a:t>, </a:t>
                </a:r>
                <a:r>
                  <a:rPr lang="en-US" altLang="ja-JP" dirty="0">
                    <a:latin typeface="Yu Gothic UI Semibold" panose="020B0700000000000000" pitchFamily="50" charset="-128"/>
                    <a:ea typeface="Yu Gothic UI Semibold" panose="020B0700000000000000" pitchFamily="50" charset="-128"/>
                  </a:rPr>
                  <a:t>create noisy data </a:t>
                </a:r>
                <a14:m>
                  <m:oMath xmlns:m="http://schemas.openxmlformats.org/officeDocument/2006/math">
                    <m:rad>
                      <m:radPr>
                        <m:degHide m:val="on"/>
                        <m:ctrlPr>
                          <a:rPr lang="ja-JP" altLang="en-US" i="1" smtClean="0">
                            <a:latin typeface="Cambria Math" panose="02040503050406030204" pitchFamily="18" charset="0"/>
                            <a:ea typeface="Yu Gothic UI Semibold" panose="020B0700000000000000" pitchFamily="50" charset="-128"/>
                          </a:rPr>
                        </m:ctrlPr>
                      </m:radPr>
                      <m:deg/>
                      <m:e>
                        <m:acc>
                          <m:accPr>
                            <m:chr m:val="̅"/>
                            <m:ctrlPr>
                              <a:rPr lang="ja-JP" altLang="en-US" i="1" smtClean="0">
                                <a:latin typeface="Cambria Math" panose="02040503050406030204" pitchFamily="18" charset="0"/>
                                <a:ea typeface="Yu Gothic UI Semibold" panose="020B0700000000000000" pitchFamily="50" charset="-128"/>
                              </a:rPr>
                            </m:ctrlPr>
                          </m:accPr>
                          <m:e>
                            <m:sSub>
                              <m:sSubPr>
                                <m:ctrlPr>
                                  <a:rPr lang="en-US" altLang="ja-JP" i="1" smtClean="0">
                                    <a:latin typeface="Cambria Math" panose="02040503050406030204" pitchFamily="18" charset="0"/>
                                    <a:ea typeface="Yu Gothic UI Semibold" panose="020B0700000000000000" pitchFamily="50" charset="-128"/>
                                  </a:rPr>
                                </m:ctrlPr>
                              </m:sSubPr>
                              <m:e>
                                <m:r>
                                  <a:rPr lang="en-US" altLang="ja-JP" b="0" i="1" smtClean="0">
                                    <a:latin typeface="Cambria Math" panose="02040503050406030204" pitchFamily="18" charset="0"/>
                                    <a:ea typeface="Yu Gothic UI Semibold" panose="020B0700000000000000" pitchFamily="50" charset="-128"/>
                                  </a:rPr>
                                  <m:t>𝑎</m:t>
                                </m:r>
                              </m:e>
                              <m:sub>
                                <m:r>
                                  <a:rPr lang="en-US" altLang="ja-JP" b="0" i="1" smtClean="0">
                                    <a:latin typeface="Cambria Math" panose="02040503050406030204" pitchFamily="18" charset="0"/>
                                    <a:ea typeface="Yu Gothic UI Semibold" panose="020B0700000000000000" pitchFamily="50" charset="-128"/>
                                  </a:rPr>
                                  <m:t>𝑡</m:t>
                                </m:r>
                              </m:sub>
                            </m:sSub>
                          </m:e>
                        </m:acc>
                      </m:e>
                    </m:rad>
                    <m:sSub>
                      <m:sSubPr>
                        <m:ctrlPr>
                          <a:rPr lang="en-US" altLang="ja-JP" i="1" smtClean="0">
                            <a:latin typeface="Cambria Math" panose="02040503050406030204" pitchFamily="18" charset="0"/>
                            <a:ea typeface="Yu Gothic UI Semibold" panose="020B0700000000000000" pitchFamily="50" charset="-128"/>
                          </a:rPr>
                        </m:ctrlPr>
                      </m:sSubPr>
                      <m:e>
                        <m:r>
                          <a:rPr lang="en-US" altLang="ja-JP" b="0" i="1" smtClean="0">
                            <a:latin typeface="Cambria Math" panose="02040503050406030204" pitchFamily="18" charset="0"/>
                            <a:ea typeface="Yu Gothic UI Semibold" panose="020B0700000000000000" pitchFamily="50" charset="-128"/>
                          </a:rPr>
                          <m:t>𝑥</m:t>
                        </m:r>
                      </m:e>
                      <m:sub>
                        <m:r>
                          <a:rPr lang="en-US" altLang="ja-JP" b="0" i="1" smtClean="0">
                            <a:latin typeface="Cambria Math" panose="02040503050406030204" pitchFamily="18" charset="0"/>
                            <a:ea typeface="Yu Gothic UI Semibold" panose="020B0700000000000000" pitchFamily="50" charset="-128"/>
                          </a:rPr>
                          <m:t>0</m:t>
                        </m:r>
                      </m:sub>
                    </m:sSub>
                    <m:r>
                      <a:rPr lang="en-US" altLang="ja-JP" b="0" i="1" smtClean="0">
                        <a:latin typeface="Cambria Math" panose="02040503050406030204" pitchFamily="18" charset="0"/>
                        <a:ea typeface="Yu Gothic UI Semibold" panose="020B0700000000000000" pitchFamily="50" charset="-128"/>
                      </a:rPr>
                      <m:t>+</m:t>
                    </m:r>
                    <m:rad>
                      <m:radPr>
                        <m:degHide m:val="on"/>
                        <m:ctrlPr>
                          <a:rPr lang="ja-JP" altLang="en-US" i="1">
                            <a:latin typeface="Cambria Math" panose="02040503050406030204" pitchFamily="18" charset="0"/>
                            <a:ea typeface="Yu Gothic UI Semibold" panose="020B0700000000000000" pitchFamily="50" charset="-128"/>
                          </a:rPr>
                        </m:ctrlPr>
                      </m:radPr>
                      <m:deg/>
                      <m:e>
                        <m:r>
                          <a:rPr lang="en-US" altLang="ja-JP" b="0" i="1" smtClean="0">
                            <a:latin typeface="Cambria Math" panose="02040503050406030204" pitchFamily="18" charset="0"/>
                            <a:ea typeface="Yu Gothic UI Semibold" panose="020B0700000000000000" pitchFamily="50" charset="-128"/>
                          </a:rPr>
                          <m:t>1−</m:t>
                        </m:r>
                        <m:acc>
                          <m:accPr>
                            <m:chr m:val="̅"/>
                            <m:ctrlPr>
                              <a:rPr lang="ja-JP" altLang="en-US" i="1">
                                <a:latin typeface="Cambria Math" panose="02040503050406030204" pitchFamily="18" charset="0"/>
                                <a:ea typeface="Yu Gothic UI Semibold" panose="020B0700000000000000" pitchFamily="50" charset="-128"/>
                              </a:rPr>
                            </m:ctrlPr>
                          </m:accPr>
                          <m:e>
                            <m:sSub>
                              <m:sSubPr>
                                <m:ctrlPr>
                                  <a:rPr lang="en-US" altLang="ja-JP" i="1">
                                    <a:latin typeface="Cambria Math" panose="02040503050406030204" pitchFamily="18" charset="0"/>
                                    <a:ea typeface="Yu Gothic UI Semibold" panose="020B0700000000000000" pitchFamily="50" charset="-128"/>
                                  </a:rPr>
                                </m:ctrlPr>
                              </m:sSubPr>
                              <m:e>
                                <m:r>
                                  <a:rPr lang="en-US" altLang="ja-JP" i="1">
                                    <a:latin typeface="Cambria Math" panose="02040503050406030204" pitchFamily="18" charset="0"/>
                                    <a:ea typeface="Yu Gothic UI Semibold" panose="020B0700000000000000" pitchFamily="50" charset="-128"/>
                                  </a:rPr>
                                  <m:t>𝑎</m:t>
                                </m:r>
                              </m:e>
                              <m:sub>
                                <m:r>
                                  <a:rPr lang="en-US" altLang="ja-JP" i="1">
                                    <a:latin typeface="Cambria Math" panose="02040503050406030204" pitchFamily="18" charset="0"/>
                                    <a:ea typeface="Yu Gothic UI Semibold" panose="020B0700000000000000" pitchFamily="50" charset="-128"/>
                                  </a:rPr>
                                  <m:t>𝑡</m:t>
                                </m:r>
                              </m:sub>
                            </m:sSub>
                          </m:e>
                        </m:acc>
                      </m:e>
                    </m:rad>
                    <m:r>
                      <a:rPr lang="ja-JP" altLang="en-US" i="1">
                        <a:latin typeface="Cambria Math" panose="02040503050406030204" pitchFamily="18" charset="0"/>
                        <a:ea typeface="Yu Gothic UI Semibold" panose="020B0700000000000000" pitchFamily="50" charset="-128"/>
                      </a:rPr>
                      <m:t>𝜖</m:t>
                    </m:r>
                  </m:oMath>
                </a14:m>
                <a:r>
                  <a:rPr lang="el-GR" altLang="ja-JP" dirty="0">
                    <a:latin typeface="Yu Gothic UI Semibold" panose="020B0700000000000000" pitchFamily="50" charset="-128"/>
                    <a:ea typeface="Yu Gothic UI Semibold" panose="020B0700000000000000" pitchFamily="50" charset="-128"/>
                  </a:rPr>
                  <a:t>.</a:t>
                </a:r>
                <a:endParaRPr lang="en-US" altLang="ja-JP" dirty="0">
                  <a:latin typeface="Yu Gothic UI Semibold" panose="020B0700000000000000" pitchFamily="50" charset="-128"/>
                  <a:ea typeface="Yu Gothic UI Semibold" panose="020B0700000000000000" pitchFamily="50" charset="-128"/>
                </a:endParaRPr>
              </a:p>
              <a:p>
                <a:r>
                  <a:rPr lang="en-US" altLang="ja-JP" dirty="0">
                    <a:latin typeface="Yu Gothic UI Semibold" panose="020B0700000000000000" pitchFamily="50" charset="-128"/>
                    <a:ea typeface="Yu Gothic UI Semibold" panose="020B0700000000000000" pitchFamily="50" charset="-128"/>
                  </a:rPr>
                  <a:t>Input this to the network </a:t>
                </a:r>
                <a:r>
                  <a:rPr lang="el-GR" altLang="ja-JP" dirty="0">
                    <a:latin typeface="Yu Gothic UI Semibold" panose="020B0700000000000000" pitchFamily="50" charset="-128"/>
                    <a:ea typeface="Yu Gothic UI Semibold" panose="020B0700000000000000" pitchFamily="50" charset="-128"/>
                  </a:rPr>
                  <a:t>​</a:t>
                </a:r>
                <a14:m>
                  <m:oMath xmlns:m="http://schemas.openxmlformats.org/officeDocument/2006/math">
                    <m:sSub>
                      <m:sSubPr>
                        <m:ctrlPr>
                          <a:rPr lang="en-US" altLang="ja-JP" i="1" smtClean="0">
                            <a:latin typeface="Cambria Math" panose="02040503050406030204" pitchFamily="18" charset="0"/>
                            <a:ea typeface="Yu Gothic UI Semibold" panose="020B0700000000000000" pitchFamily="50" charset="-128"/>
                          </a:rPr>
                        </m:ctrlPr>
                      </m:sSubPr>
                      <m:e>
                        <m:r>
                          <a:rPr lang="ja-JP" altLang="en-US" i="1">
                            <a:latin typeface="Cambria Math" panose="02040503050406030204" pitchFamily="18" charset="0"/>
                            <a:ea typeface="Yu Gothic UI Semibold" panose="020B0700000000000000" pitchFamily="50" charset="-128"/>
                          </a:rPr>
                          <m:t>𝜖</m:t>
                        </m:r>
                      </m:e>
                      <m:sub>
                        <m:r>
                          <a:rPr lang="ja-JP" altLang="en-US" i="1" smtClean="0">
                            <a:latin typeface="Cambria Math" panose="02040503050406030204" pitchFamily="18" charset="0"/>
                            <a:ea typeface="Yu Gothic UI Semibold" panose="020B0700000000000000" pitchFamily="50" charset="-128"/>
                          </a:rPr>
                          <m:t>𝜃</m:t>
                        </m:r>
                      </m:sub>
                    </m:sSub>
                  </m:oMath>
                </a14:m>
                <a:r>
                  <a:rPr lang="el-GR" altLang="ja-JP" dirty="0">
                    <a:latin typeface="Yu Gothic UI Semibold" panose="020B0700000000000000" pitchFamily="50" charset="-128"/>
                    <a:ea typeface="Yu Gothic UI Semibold" panose="020B0700000000000000" pitchFamily="50" charset="-128"/>
                  </a:rPr>
                  <a:t>, </a:t>
                </a:r>
                <a:r>
                  <a:rPr lang="en-US" altLang="ja-JP" dirty="0">
                    <a:latin typeface="Yu Gothic UI Semibold" panose="020B0700000000000000" pitchFamily="50" charset="-128"/>
                    <a:ea typeface="Yu Gothic UI Semibold" panose="020B0700000000000000" pitchFamily="50" charset="-128"/>
                  </a:rPr>
                  <a:t>and calculate the error between the predicted noise and the actual noise. Update the network parameters using gradient descent to minimize this error.</a:t>
                </a:r>
                <a:endParaRPr lang="ja-JP" altLang="en-US" dirty="0">
                  <a:latin typeface="Yu Gothic UI Semibold" panose="020B0700000000000000" pitchFamily="50" charset="-128"/>
                  <a:ea typeface="Yu Gothic UI Semibold" panose="020B0700000000000000" pitchFamily="50" charset="-128"/>
                </a:endParaRPr>
              </a:p>
            </p:txBody>
          </p:sp>
        </mc:Choice>
        <mc:Fallback xmlns="">
          <p:sp>
            <p:nvSpPr>
              <p:cNvPr id="15" name="テキスト ボックス 14">
                <a:extLst>
                  <a:ext uri="{FF2B5EF4-FFF2-40B4-BE49-F238E27FC236}">
                    <a16:creationId xmlns:a16="http://schemas.microsoft.com/office/drawing/2014/main" id="{511B7917-22F7-B3DB-8933-649D44E1F562}"/>
                  </a:ext>
                </a:extLst>
              </p:cNvPr>
              <p:cNvSpPr txBox="1">
                <a:spLocks noRot="1" noChangeAspect="1" noMove="1" noResize="1" noEditPoints="1" noAdjustHandles="1" noChangeArrowheads="1" noChangeShapeType="1" noTextEdit="1"/>
              </p:cNvSpPr>
              <p:nvPr/>
            </p:nvSpPr>
            <p:spPr>
              <a:xfrm>
                <a:off x="211678" y="4269241"/>
                <a:ext cx="6111764" cy="2089739"/>
              </a:xfrm>
              <a:prstGeom prst="rect">
                <a:avLst/>
              </a:prstGeom>
              <a:blipFill>
                <a:blip r:embed="rId5"/>
                <a:stretch>
                  <a:fillRect l="-898" t="-2041" b="-4082"/>
                </a:stretch>
              </a:blipFill>
            </p:spPr>
            <p:txBody>
              <a:bodyPr/>
              <a:lstStyle/>
              <a:p>
                <a:r>
                  <a:rPr lang="ja-JP" altLang="en-US">
                    <a:noFill/>
                  </a:rPr>
                  <a:t> </a:t>
                </a:r>
              </a:p>
            </p:txBody>
          </p:sp>
        </mc:Fallback>
      </mc:AlternateContent>
      <p:pic>
        <p:nvPicPr>
          <p:cNvPr id="1028" name="Picture 4">
            <a:extLst>
              <a:ext uri="{FF2B5EF4-FFF2-40B4-BE49-F238E27FC236}">
                <a16:creationId xmlns:a16="http://schemas.microsoft.com/office/drawing/2014/main" id="{1400698B-D53D-D8DE-33AA-1F5C2E9524E0}"/>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b="19162"/>
          <a:stretch/>
        </p:blipFill>
        <p:spPr bwMode="auto">
          <a:xfrm>
            <a:off x="7342909" y="1435270"/>
            <a:ext cx="4796658" cy="30572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0743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87B170C7-E09C-469C-81DC-BD4D78433109}"/>
              </a:ext>
            </a:extLst>
          </p:cNvPr>
          <p:cNvSpPr txBox="1"/>
          <p:nvPr/>
        </p:nvSpPr>
        <p:spPr>
          <a:xfrm>
            <a:off x="0" y="0"/>
            <a:ext cx="7342909" cy="369332"/>
          </a:xfrm>
          <a:prstGeom prst="rect">
            <a:avLst/>
          </a:prstGeom>
          <a:noFill/>
        </p:spPr>
        <p:txBody>
          <a:bodyPr wrap="square" rtlCol="0">
            <a:spAutoFit/>
          </a:bodyPr>
          <a:lstStyle/>
          <a:p>
            <a:pPr algn="ctr"/>
            <a:r>
              <a:rPr lang="en-US" altLang="ja-JP" dirty="0"/>
              <a:t> </a:t>
            </a:r>
            <a:endParaRPr lang="ja-JP" altLang="en-US" dirty="0"/>
          </a:p>
        </p:txBody>
      </p:sp>
      <p:sp>
        <p:nvSpPr>
          <p:cNvPr id="8" name="テキスト ボックス 7">
            <a:extLst>
              <a:ext uri="{FF2B5EF4-FFF2-40B4-BE49-F238E27FC236}">
                <a16:creationId xmlns:a16="http://schemas.microsoft.com/office/drawing/2014/main" id="{ED296AF3-7FD0-4FE3-A3F4-EE192EC95312}"/>
              </a:ext>
            </a:extLst>
          </p:cNvPr>
          <p:cNvSpPr txBox="1"/>
          <p:nvPr/>
        </p:nvSpPr>
        <p:spPr>
          <a:xfrm>
            <a:off x="221674" y="261443"/>
            <a:ext cx="3999345" cy="769441"/>
          </a:xfrm>
          <a:prstGeom prst="rect">
            <a:avLst/>
          </a:prstGeom>
          <a:noFill/>
        </p:spPr>
        <p:txBody>
          <a:bodyPr wrap="square" rtlCol="0">
            <a:spAutoFit/>
          </a:bodyPr>
          <a:lstStyle/>
          <a:p>
            <a:r>
              <a:rPr lang="en-US" altLang="ja-JP" sz="4400" dirty="0">
                <a:solidFill>
                  <a:schemeClr val="bg1"/>
                </a:solidFill>
                <a:latin typeface="Yu Gothic UI Semibold" panose="020B0700000000000000" pitchFamily="50" charset="-128"/>
                <a:ea typeface="Yu Gothic UI Semibold" panose="020B0700000000000000" pitchFamily="50" charset="-128"/>
              </a:rPr>
              <a:t>Dataset</a:t>
            </a:r>
          </a:p>
        </p:txBody>
      </p:sp>
      <p:pic>
        <p:nvPicPr>
          <p:cNvPr id="4" name="図 3" descr="グラフ が含まれている画像&#10;&#10;自動的に生成された説明">
            <a:extLst>
              <a:ext uri="{FF2B5EF4-FFF2-40B4-BE49-F238E27FC236}">
                <a16:creationId xmlns:a16="http://schemas.microsoft.com/office/drawing/2014/main" id="{C81D15D2-BB0C-B906-4CAD-532C727831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76173" y="4384259"/>
            <a:ext cx="1336222" cy="1336222"/>
          </a:xfrm>
          <a:prstGeom prst="rect">
            <a:avLst/>
          </a:prstGeom>
        </p:spPr>
      </p:pic>
      <p:sp>
        <p:nvSpPr>
          <p:cNvPr id="6" name="テキスト ボックス 5">
            <a:extLst>
              <a:ext uri="{FF2B5EF4-FFF2-40B4-BE49-F238E27FC236}">
                <a16:creationId xmlns:a16="http://schemas.microsoft.com/office/drawing/2014/main" id="{26B510A3-FC27-1193-698B-8BF75755DE5F}"/>
              </a:ext>
            </a:extLst>
          </p:cNvPr>
          <p:cNvSpPr txBox="1"/>
          <p:nvPr/>
        </p:nvSpPr>
        <p:spPr>
          <a:xfrm>
            <a:off x="4960562" y="6488668"/>
            <a:ext cx="767443" cy="369332"/>
          </a:xfrm>
          <a:prstGeom prst="rect">
            <a:avLst/>
          </a:prstGeom>
          <a:noFill/>
        </p:spPr>
        <p:txBody>
          <a:bodyPr wrap="square" rtlCol="0">
            <a:spAutoFit/>
          </a:bodyPr>
          <a:lstStyle/>
          <a:p>
            <a:pPr algn="ctr"/>
            <a:r>
              <a:rPr lang="en-US" altLang="ja-JP" dirty="0"/>
              <a:t>input</a:t>
            </a:r>
            <a:endParaRPr kumimoji="1" lang="ja-JP" altLang="en-US" dirty="0"/>
          </a:p>
        </p:txBody>
      </p:sp>
      <p:sp>
        <p:nvSpPr>
          <p:cNvPr id="9" name="テキスト ボックス 8">
            <a:extLst>
              <a:ext uri="{FF2B5EF4-FFF2-40B4-BE49-F238E27FC236}">
                <a16:creationId xmlns:a16="http://schemas.microsoft.com/office/drawing/2014/main" id="{AE016D29-624B-FBE4-5FC6-BB97FA324D7D}"/>
              </a:ext>
            </a:extLst>
          </p:cNvPr>
          <p:cNvSpPr txBox="1"/>
          <p:nvPr/>
        </p:nvSpPr>
        <p:spPr>
          <a:xfrm>
            <a:off x="9503470" y="6488668"/>
            <a:ext cx="1336222" cy="369332"/>
          </a:xfrm>
          <a:prstGeom prst="rect">
            <a:avLst/>
          </a:prstGeom>
          <a:noFill/>
        </p:spPr>
        <p:txBody>
          <a:bodyPr wrap="square" rtlCol="0">
            <a:spAutoFit/>
          </a:bodyPr>
          <a:lstStyle/>
          <a:p>
            <a:pPr algn="ctr"/>
            <a:r>
              <a:rPr lang="en-US" altLang="ja-JP" dirty="0"/>
              <a:t>output</a:t>
            </a:r>
            <a:endParaRPr kumimoji="1" lang="ja-JP" altLang="en-US" dirty="0"/>
          </a:p>
        </p:txBody>
      </p:sp>
      <p:sp>
        <p:nvSpPr>
          <p:cNvPr id="11" name="テキスト ボックス 10">
            <a:extLst>
              <a:ext uri="{FF2B5EF4-FFF2-40B4-BE49-F238E27FC236}">
                <a16:creationId xmlns:a16="http://schemas.microsoft.com/office/drawing/2014/main" id="{8273CABD-55D7-397C-1A1D-58C69F5B72F2}"/>
              </a:ext>
            </a:extLst>
          </p:cNvPr>
          <p:cNvSpPr txBox="1"/>
          <p:nvPr/>
        </p:nvSpPr>
        <p:spPr>
          <a:xfrm>
            <a:off x="6815154" y="6488668"/>
            <a:ext cx="898271" cy="369332"/>
          </a:xfrm>
          <a:prstGeom prst="rect">
            <a:avLst/>
          </a:prstGeom>
          <a:noFill/>
        </p:spPr>
        <p:txBody>
          <a:bodyPr wrap="square" rtlCol="0">
            <a:spAutoFit/>
          </a:bodyPr>
          <a:lstStyle/>
          <a:p>
            <a:pPr algn="ctr"/>
            <a:r>
              <a:rPr kumimoji="1" lang="en-US" altLang="ja-JP" dirty="0"/>
              <a:t>target</a:t>
            </a:r>
            <a:endParaRPr kumimoji="1" lang="ja-JP" altLang="en-US" dirty="0"/>
          </a:p>
        </p:txBody>
      </p:sp>
      <p:pic>
        <p:nvPicPr>
          <p:cNvPr id="15" name="図 14" descr="グラフ が含まれている画像&#10;&#10;自動的に生成された説明">
            <a:extLst>
              <a:ext uri="{FF2B5EF4-FFF2-40B4-BE49-F238E27FC236}">
                <a16:creationId xmlns:a16="http://schemas.microsoft.com/office/drawing/2014/main" id="{F1F13C11-DB41-0067-D657-89F8F59FD81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96178" y="5152446"/>
            <a:ext cx="1336222" cy="1336222"/>
          </a:xfrm>
          <a:prstGeom prst="rect">
            <a:avLst/>
          </a:prstGeom>
          <a:solidFill>
            <a:schemeClr val="tx1"/>
          </a:solidFill>
        </p:spPr>
      </p:pic>
      <p:pic>
        <p:nvPicPr>
          <p:cNvPr id="17" name="図 16" descr="グラフ, ヒストグラム&#10;&#10;自動的に生成された説明">
            <a:extLst>
              <a:ext uri="{FF2B5EF4-FFF2-40B4-BE49-F238E27FC236}">
                <a16:creationId xmlns:a16="http://schemas.microsoft.com/office/drawing/2014/main" id="{EF2882BD-9015-41F0-2FB2-47BB9E8209E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03470" y="5152446"/>
            <a:ext cx="1336222" cy="1336222"/>
          </a:xfrm>
          <a:prstGeom prst="rect">
            <a:avLst/>
          </a:prstGeom>
        </p:spPr>
      </p:pic>
      <p:pic>
        <p:nvPicPr>
          <p:cNvPr id="27" name="図 26" descr="黒い背景に白い文字がある&#10;&#10;中程度の精度で自動的に生成された説明">
            <a:extLst>
              <a:ext uri="{FF2B5EF4-FFF2-40B4-BE49-F238E27FC236}">
                <a16:creationId xmlns:a16="http://schemas.microsoft.com/office/drawing/2014/main" id="{25641B52-2225-50ED-0227-C01BB2A4D21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03470" y="3509509"/>
            <a:ext cx="1336223" cy="1336223"/>
          </a:xfrm>
          <a:prstGeom prst="rect">
            <a:avLst/>
          </a:prstGeom>
        </p:spPr>
      </p:pic>
      <p:pic>
        <p:nvPicPr>
          <p:cNvPr id="29" name="図 28" descr="白いバックグラウンドの前に並んでいる&#10;&#10;中程度の精度で自動的に生成された説明">
            <a:extLst>
              <a:ext uri="{FF2B5EF4-FFF2-40B4-BE49-F238E27FC236}">
                <a16:creationId xmlns:a16="http://schemas.microsoft.com/office/drawing/2014/main" id="{0369072A-C5C7-F8CA-32FC-1B68302A8E1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596177" y="3509510"/>
            <a:ext cx="1336223" cy="1336223"/>
          </a:xfrm>
          <a:prstGeom prst="rect">
            <a:avLst/>
          </a:prstGeom>
          <a:solidFill>
            <a:schemeClr val="tx1"/>
          </a:solidFill>
        </p:spPr>
      </p:pic>
      <p:sp>
        <p:nvSpPr>
          <p:cNvPr id="5" name="二等辺三角形 4">
            <a:extLst>
              <a:ext uri="{FF2B5EF4-FFF2-40B4-BE49-F238E27FC236}">
                <a16:creationId xmlns:a16="http://schemas.microsoft.com/office/drawing/2014/main" id="{A5BC687C-BC50-C748-57CE-02D585D49F2E}"/>
              </a:ext>
            </a:extLst>
          </p:cNvPr>
          <p:cNvSpPr/>
          <p:nvPr/>
        </p:nvSpPr>
        <p:spPr>
          <a:xfrm rot="5400000">
            <a:off x="8297331" y="4001854"/>
            <a:ext cx="857720" cy="420018"/>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6A19C1E2-3CE5-59FE-3FC4-2F4BE8CD6998}"/>
              </a:ext>
            </a:extLst>
          </p:cNvPr>
          <p:cNvSpPr txBox="1"/>
          <p:nvPr/>
        </p:nvSpPr>
        <p:spPr>
          <a:xfrm>
            <a:off x="221674" y="1560558"/>
            <a:ext cx="11581443" cy="1692771"/>
          </a:xfrm>
          <a:prstGeom prst="rect">
            <a:avLst/>
          </a:prstGeom>
          <a:noFill/>
        </p:spPr>
        <p:txBody>
          <a:bodyPr wrap="square">
            <a:spAutoFit/>
          </a:bodyPr>
          <a:lstStyle/>
          <a:p>
            <a:r>
              <a:rPr lang="en-US" altLang="ja-JP" sz="2400" dirty="0">
                <a:latin typeface="Yu Gothic UI Semibold" panose="020B0700000000000000" pitchFamily="50" charset="-128"/>
                <a:ea typeface="Yu Gothic UI Semibold" panose="020B0700000000000000" pitchFamily="50" charset="-128"/>
              </a:rPr>
              <a:t>Prepared a training dataset of 50 images.</a:t>
            </a:r>
          </a:p>
          <a:p>
            <a:r>
              <a:rPr lang="en-US" altLang="ja-JP" sz="2000" dirty="0">
                <a:latin typeface="Yu Gothic UI Semibold" panose="020B0700000000000000" pitchFamily="50" charset="-128"/>
                <a:ea typeface="Yu Gothic UI Semibold" panose="020B0700000000000000" pitchFamily="50" charset="-128"/>
              </a:rPr>
              <a:t>To expand the dataset, I performed ColorTransfer.</a:t>
            </a:r>
          </a:p>
          <a:p>
            <a:r>
              <a:rPr lang="en-US" altLang="ja-JP" sz="2000" dirty="0">
                <a:latin typeface="Yu Gothic UI Semibold" panose="020B0700000000000000" pitchFamily="50" charset="-128"/>
                <a:ea typeface="Yu Gothic UI Semibold" panose="020B0700000000000000" pitchFamily="50" charset="-128"/>
              </a:rPr>
              <a:t>To prevent the influence of the background, I used only the ab components in the Lab color space. </a:t>
            </a:r>
          </a:p>
          <a:p>
            <a:r>
              <a:rPr lang="en-US" altLang="ja-JP" sz="2000" dirty="0">
                <a:latin typeface="Yu Gothic UI Semibold" panose="020B0700000000000000" pitchFamily="50" charset="-128"/>
                <a:ea typeface="Yu Gothic UI Semibold" panose="020B0700000000000000" pitchFamily="50" charset="-128"/>
              </a:rPr>
              <a:t>The method used is the common approach of matching the input colors to the target by using the standard deviation of the ab components.</a:t>
            </a:r>
            <a:endParaRPr lang="ja-JP" altLang="en-US" sz="2000" dirty="0">
              <a:latin typeface="Yu Gothic UI Semibold" panose="020B0700000000000000" pitchFamily="50" charset="-128"/>
              <a:ea typeface="Yu Gothic UI Semibold" panose="020B0700000000000000" pitchFamily="50" charset="-128"/>
            </a:endParaRPr>
          </a:p>
        </p:txBody>
      </p:sp>
      <p:sp>
        <p:nvSpPr>
          <p:cNvPr id="14" name="テキスト ボックス 13">
            <a:extLst>
              <a:ext uri="{FF2B5EF4-FFF2-40B4-BE49-F238E27FC236}">
                <a16:creationId xmlns:a16="http://schemas.microsoft.com/office/drawing/2014/main" id="{1EE951E5-1C48-B41E-D95A-35372FD58CF1}"/>
              </a:ext>
            </a:extLst>
          </p:cNvPr>
          <p:cNvSpPr txBox="1"/>
          <p:nvPr/>
        </p:nvSpPr>
        <p:spPr>
          <a:xfrm>
            <a:off x="246777" y="3642890"/>
            <a:ext cx="6096000" cy="400110"/>
          </a:xfrm>
          <a:prstGeom prst="rect">
            <a:avLst/>
          </a:prstGeom>
          <a:noFill/>
        </p:spPr>
        <p:txBody>
          <a:bodyPr wrap="square">
            <a:spAutoFit/>
          </a:bodyPr>
          <a:lstStyle/>
          <a:p>
            <a:r>
              <a:rPr lang="en-US" altLang="ja-JP" sz="2000" dirty="0">
                <a:latin typeface="Yu Gothic UI Semibold" panose="020B0700000000000000" pitchFamily="50" charset="-128"/>
                <a:ea typeface="Yu Gothic UI Semibold" panose="020B0700000000000000" pitchFamily="50" charset="-128"/>
              </a:rPr>
              <a:t>The number of images after expansion is 2500.</a:t>
            </a:r>
            <a:endParaRPr lang="ja-JP" altLang="en-US" sz="2000" dirty="0">
              <a:latin typeface="Yu Gothic UI Semibold" panose="020B0700000000000000" pitchFamily="50" charset="-128"/>
              <a:ea typeface="Yu Gothic UI Semibold" panose="020B0700000000000000" pitchFamily="50" charset="-128"/>
            </a:endParaRPr>
          </a:p>
        </p:txBody>
      </p:sp>
      <p:sp>
        <p:nvSpPr>
          <p:cNvPr id="16" name="二等辺三角形 15">
            <a:extLst>
              <a:ext uri="{FF2B5EF4-FFF2-40B4-BE49-F238E27FC236}">
                <a16:creationId xmlns:a16="http://schemas.microsoft.com/office/drawing/2014/main" id="{C8038EFA-B112-C828-AB1A-6D4A4AEE9300}"/>
              </a:ext>
            </a:extLst>
          </p:cNvPr>
          <p:cNvSpPr/>
          <p:nvPr/>
        </p:nvSpPr>
        <p:spPr>
          <a:xfrm rot="5400000">
            <a:off x="8320759" y="5610548"/>
            <a:ext cx="857720" cy="420018"/>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スライド番号プレースホルダー 17">
            <a:extLst>
              <a:ext uri="{FF2B5EF4-FFF2-40B4-BE49-F238E27FC236}">
                <a16:creationId xmlns:a16="http://schemas.microsoft.com/office/drawing/2014/main" id="{64B4B103-605F-DC25-D930-075C84D56D0D}"/>
              </a:ext>
            </a:extLst>
          </p:cNvPr>
          <p:cNvSpPr>
            <a:spLocks noGrp="1"/>
          </p:cNvSpPr>
          <p:nvPr>
            <p:ph type="sldNum" sz="quarter" idx="12"/>
          </p:nvPr>
        </p:nvSpPr>
        <p:spPr>
          <a:xfrm>
            <a:off x="8610600" y="6356354"/>
            <a:ext cx="2743200" cy="365125"/>
          </a:xfrm>
        </p:spPr>
        <p:txBody>
          <a:bodyPr/>
          <a:lstStyle/>
          <a:p>
            <a:fld id="{86DB81D5-40F9-4C3D-9CD4-6800D23EE77D}" type="slidenum">
              <a:rPr kumimoji="1" lang="ja-JP" altLang="en-US" smtClean="0"/>
              <a:t>4</a:t>
            </a:fld>
            <a:endParaRPr kumimoji="1" lang="ja-JP" altLang="en-US"/>
          </a:p>
        </p:txBody>
      </p:sp>
      <p:sp>
        <p:nvSpPr>
          <p:cNvPr id="3" name="テキスト ボックス 2">
            <a:extLst>
              <a:ext uri="{FF2B5EF4-FFF2-40B4-BE49-F238E27FC236}">
                <a16:creationId xmlns:a16="http://schemas.microsoft.com/office/drawing/2014/main" id="{B1724D47-B36C-0CFE-AE37-A42F933112C8}"/>
              </a:ext>
            </a:extLst>
          </p:cNvPr>
          <p:cNvSpPr txBox="1"/>
          <p:nvPr/>
        </p:nvSpPr>
        <p:spPr>
          <a:xfrm>
            <a:off x="302131" y="6211669"/>
            <a:ext cx="3798530" cy="461665"/>
          </a:xfrm>
          <a:prstGeom prst="rect">
            <a:avLst/>
          </a:prstGeom>
          <a:noFill/>
        </p:spPr>
        <p:txBody>
          <a:bodyPr wrap="square">
            <a:spAutoFit/>
          </a:bodyPr>
          <a:lstStyle/>
          <a:p>
            <a:r>
              <a:rPr lang="ja-JP" altLang="en-US" sz="1200" dirty="0"/>
              <a:t>https://drive.google.com/drive/folders/1SwHgpKcFisSWCM86BH8WNrzXkEgH4_40?usp=sharing</a:t>
            </a:r>
          </a:p>
        </p:txBody>
      </p:sp>
      <p:sp>
        <p:nvSpPr>
          <p:cNvPr id="13" name="テキスト ボックス 12">
            <a:extLst>
              <a:ext uri="{FF2B5EF4-FFF2-40B4-BE49-F238E27FC236}">
                <a16:creationId xmlns:a16="http://schemas.microsoft.com/office/drawing/2014/main" id="{DEEE2716-7849-9D88-A00F-54B3E4C85798}"/>
              </a:ext>
            </a:extLst>
          </p:cNvPr>
          <p:cNvSpPr txBox="1"/>
          <p:nvPr/>
        </p:nvSpPr>
        <p:spPr>
          <a:xfrm>
            <a:off x="302131" y="5842337"/>
            <a:ext cx="1750189" cy="369332"/>
          </a:xfrm>
          <a:prstGeom prst="rect">
            <a:avLst/>
          </a:prstGeom>
          <a:noFill/>
        </p:spPr>
        <p:txBody>
          <a:bodyPr wrap="square">
            <a:spAutoFit/>
          </a:bodyPr>
          <a:lstStyle/>
          <a:p>
            <a:r>
              <a:rPr lang="en-US" altLang="ja-JP" sz="1800" dirty="0">
                <a:latin typeface="Yu Gothic UI Semibold" panose="020B0700000000000000" pitchFamily="50" charset="-128"/>
                <a:ea typeface="Yu Gothic UI Semibold" panose="020B0700000000000000" pitchFamily="50" charset="-128"/>
              </a:rPr>
              <a:t>Dataset URL </a:t>
            </a:r>
            <a:endParaRPr lang="ja-JP" altLang="en-US" dirty="0"/>
          </a:p>
        </p:txBody>
      </p:sp>
    </p:spTree>
    <p:extLst>
      <p:ext uri="{BB962C8B-B14F-4D97-AF65-F5344CB8AC3E}">
        <p14:creationId xmlns:p14="http://schemas.microsoft.com/office/powerpoint/2010/main" val="2790884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87B170C7-E09C-469C-81DC-BD4D78433109}"/>
              </a:ext>
            </a:extLst>
          </p:cNvPr>
          <p:cNvSpPr txBox="1"/>
          <p:nvPr/>
        </p:nvSpPr>
        <p:spPr>
          <a:xfrm>
            <a:off x="0" y="0"/>
            <a:ext cx="7342909" cy="369332"/>
          </a:xfrm>
          <a:prstGeom prst="rect">
            <a:avLst/>
          </a:prstGeom>
          <a:noFill/>
        </p:spPr>
        <p:txBody>
          <a:bodyPr wrap="square" rtlCol="0">
            <a:spAutoFit/>
          </a:bodyPr>
          <a:lstStyle/>
          <a:p>
            <a:r>
              <a:rPr lang="en-US" altLang="ja-JP" dirty="0"/>
              <a:t> </a:t>
            </a:r>
            <a:endParaRPr lang="ja-JP" altLang="en-US" dirty="0"/>
          </a:p>
        </p:txBody>
      </p:sp>
      <p:sp>
        <p:nvSpPr>
          <p:cNvPr id="8" name="テキスト ボックス 7">
            <a:extLst>
              <a:ext uri="{FF2B5EF4-FFF2-40B4-BE49-F238E27FC236}">
                <a16:creationId xmlns:a16="http://schemas.microsoft.com/office/drawing/2014/main" id="{ED296AF3-7FD0-4FE3-A3F4-EE192EC95312}"/>
              </a:ext>
            </a:extLst>
          </p:cNvPr>
          <p:cNvSpPr txBox="1"/>
          <p:nvPr/>
        </p:nvSpPr>
        <p:spPr>
          <a:xfrm>
            <a:off x="221674" y="261443"/>
            <a:ext cx="6690403" cy="769441"/>
          </a:xfrm>
          <a:prstGeom prst="rect">
            <a:avLst/>
          </a:prstGeom>
          <a:noFill/>
        </p:spPr>
        <p:txBody>
          <a:bodyPr wrap="square" rtlCol="0">
            <a:spAutoFit/>
          </a:bodyPr>
          <a:lstStyle/>
          <a:p>
            <a:r>
              <a:rPr lang="en-US" altLang="ja-JP" sz="4400" b="0" i="0" u="none" strike="noStrike" dirty="0">
                <a:solidFill>
                  <a:schemeClr val="bg1"/>
                </a:solidFill>
                <a:effectLst/>
                <a:latin typeface="Yu Gothic UI Semibold" panose="020B0700000000000000" pitchFamily="50" charset="-128"/>
                <a:ea typeface="Yu Gothic UI Semibold" panose="020B0700000000000000" pitchFamily="50" charset="-128"/>
              </a:rPr>
              <a:t>Preliminary </a:t>
            </a:r>
            <a:r>
              <a:rPr lang="en-US" altLang="ja-JP" sz="4400" dirty="0">
                <a:solidFill>
                  <a:schemeClr val="bg1"/>
                </a:solidFill>
                <a:latin typeface="Yu Gothic UI Semibold" panose="020B0700000000000000" pitchFamily="50" charset="-128"/>
                <a:ea typeface="Yu Gothic UI Semibold" panose="020B0700000000000000" pitchFamily="50" charset="-128"/>
              </a:rPr>
              <a:t>Experiment</a:t>
            </a:r>
          </a:p>
        </p:txBody>
      </p:sp>
      <p:sp>
        <p:nvSpPr>
          <p:cNvPr id="2" name="スライド番号プレースホルダー 17">
            <a:extLst>
              <a:ext uri="{FF2B5EF4-FFF2-40B4-BE49-F238E27FC236}">
                <a16:creationId xmlns:a16="http://schemas.microsoft.com/office/drawing/2014/main" id="{9EC8F246-75E8-C290-F91F-A48AC12A65EB}"/>
              </a:ext>
            </a:extLst>
          </p:cNvPr>
          <p:cNvSpPr>
            <a:spLocks noGrp="1"/>
          </p:cNvSpPr>
          <p:nvPr>
            <p:ph type="sldNum" sz="quarter" idx="12"/>
          </p:nvPr>
        </p:nvSpPr>
        <p:spPr>
          <a:xfrm>
            <a:off x="8610600" y="6356354"/>
            <a:ext cx="2743200" cy="365125"/>
          </a:xfrm>
        </p:spPr>
        <p:txBody>
          <a:bodyPr/>
          <a:lstStyle/>
          <a:p>
            <a:fld id="{86DB81D5-40F9-4C3D-9CD4-6800D23EE77D}" type="slidenum">
              <a:rPr kumimoji="1" lang="ja-JP" altLang="en-US" smtClean="0"/>
              <a:t>5</a:t>
            </a:fld>
            <a:endParaRPr kumimoji="1" lang="ja-JP" altLang="en-US"/>
          </a:p>
        </p:txBody>
      </p:sp>
      <p:sp>
        <p:nvSpPr>
          <p:cNvPr id="4" name="テキスト ボックス 3">
            <a:extLst>
              <a:ext uri="{FF2B5EF4-FFF2-40B4-BE49-F238E27FC236}">
                <a16:creationId xmlns:a16="http://schemas.microsoft.com/office/drawing/2014/main" id="{CF7A1A4E-83B4-2644-EE0B-BA9C3814515C}"/>
              </a:ext>
            </a:extLst>
          </p:cNvPr>
          <p:cNvSpPr txBox="1"/>
          <p:nvPr/>
        </p:nvSpPr>
        <p:spPr>
          <a:xfrm>
            <a:off x="579025" y="2148314"/>
            <a:ext cx="10414795" cy="3847207"/>
          </a:xfrm>
          <a:prstGeom prst="rect">
            <a:avLst/>
          </a:prstGeom>
          <a:noFill/>
        </p:spPr>
        <p:txBody>
          <a:bodyPr wrap="square" rtlCol="0">
            <a:spAutoFit/>
          </a:bodyPr>
          <a:lstStyle/>
          <a:p>
            <a:r>
              <a:rPr lang="en-US" altLang="ja-JP" sz="2000" dirty="0">
                <a:latin typeface="Yu Gothic UI Semibold" panose="020B0700000000000000" pitchFamily="50" charset="-128"/>
                <a:ea typeface="Yu Gothic UI Semibold" panose="020B0700000000000000" pitchFamily="50" charset="-128"/>
              </a:rPr>
              <a:t>Since we are generating relatively small images, specifically 40×40 pixels, </a:t>
            </a:r>
          </a:p>
          <a:p>
            <a:r>
              <a:rPr lang="en-US" altLang="ja-JP" sz="2000" dirty="0">
                <a:latin typeface="Yu Gothic UI Semibold" panose="020B0700000000000000" pitchFamily="50" charset="-128"/>
                <a:ea typeface="Yu Gothic UI Semibold" panose="020B0700000000000000" pitchFamily="50" charset="-128"/>
              </a:rPr>
              <a:t>it may not be necessary to use as many channels as those employed in existing models.</a:t>
            </a:r>
          </a:p>
          <a:p>
            <a:endParaRPr lang="en-US" altLang="ja-JP" sz="2000" dirty="0">
              <a:latin typeface="Yu Gothic UI Semibold" panose="020B0700000000000000" pitchFamily="50" charset="-128"/>
              <a:ea typeface="Yu Gothic UI Semibold" panose="020B0700000000000000" pitchFamily="50" charset="-128"/>
            </a:endParaRPr>
          </a:p>
          <a:p>
            <a:r>
              <a:rPr lang="en-US" altLang="ja-JP" sz="2400" dirty="0">
                <a:latin typeface="Yu Gothic UI Semibold" panose="020B0700000000000000" pitchFamily="50" charset="-128"/>
                <a:ea typeface="Yu Gothic UI Semibold" panose="020B0700000000000000" pitchFamily="50" charset="-128"/>
              </a:rPr>
              <a:t>Compare the models</a:t>
            </a:r>
            <a:br>
              <a:rPr kumimoji="1" lang="en-US" altLang="ja-JP" sz="2000" dirty="0">
                <a:latin typeface="Yu Gothic UI Semibold" panose="020B0700000000000000" pitchFamily="50" charset="-128"/>
                <a:ea typeface="Yu Gothic UI Semibold" panose="020B0700000000000000" pitchFamily="50" charset="-128"/>
              </a:rPr>
            </a:br>
            <a:endParaRPr kumimoji="1" lang="en-US" altLang="ja-JP" sz="2000" dirty="0">
              <a:latin typeface="Yu Gothic UI Semibold" panose="020B0700000000000000" pitchFamily="50" charset="-128"/>
              <a:ea typeface="Yu Gothic UI Semibold" panose="020B0700000000000000" pitchFamily="50" charset="-128"/>
            </a:endParaRPr>
          </a:p>
          <a:p>
            <a:r>
              <a:rPr lang="en-US" altLang="ja-JP" sz="2000" dirty="0">
                <a:latin typeface="Yu Gothic UI Semibold" panose="020B0700000000000000" pitchFamily="50" charset="-128"/>
                <a:ea typeface="Yu Gothic UI Semibold" panose="020B0700000000000000" pitchFamily="50" charset="-128"/>
              </a:rPr>
              <a:t>Pix2Pix</a:t>
            </a:r>
          </a:p>
          <a:p>
            <a:endParaRPr lang="en-US" altLang="ja-JP" sz="2000" dirty="0">
              <a:latin typeface="Yu Gothic UI Semibold" panose="020B0700000000000000" pitchFamily="50" charset="-128"/>
              <a:ea typeface="Yu Gothic UI Semibold" panose="020B0700000000000000" pitchFamily="50" charset="-128"/>
            </a:endParaRPr>
          </a:p>
          <a:p>
            <a:r>
              <a:rPr lang="en-US" altLang="ja-JP" sz="2000" dirty="0">
                <a:latin typeface="Yu Gothic UI Semibold" panose="020B0700000000000000" pitchFamily="50" charset="-128"/>
                <a:ea typeface="Yu Gothic UI Semibold" panose="020B0700000000000000" pitchFamily="50" charset="-128"/>
              </a:rPr>
              <a:t>Diffusion Model</a:t>
            </a:r>
          </a:p>
          <a:p>
            <a:endParaRPr lang="en-US" altLang="ja-JP" sz="2000" dirty="0">
              <a:latin typeface="Yu Gothic UI Semibold" panose="020B0700000000000000" pitchFamily="50" charset="-128"/>
              <a:ea typeface="Yu Gothic UI Semibold" panose="020B0700000000000000" pitchFamily="50" charset="-128"/>
            </a:endParaRPr>
          </a:p>
          <a:p>
            <a:r>
              <a:rPr lang="en-US" altLang="ja-JP" sz="2000" dirty="0">
                <a:latin typeface="Yu Gothic UI Semibold" panose="020B0700000000000000" pitchFamily="50" charset="-128"/>
                <a:ea typeface="Yu Gothic UI Semibold" panose="020B0700000000000000" pitchFamily="50" charset="-128"/>
              </a:rPr>
              <a:t>Diffusion Model with reduced channels</a:t>
            </a:r>
          </a:p>
          <a:p>
            <a:br>
              <a:rPr kumimoji="1" lang="en-US" altLang="ja-JP" sz="2000" dirty="0">
                <a:latin typeface="Yu Gothic UI Semibold" panose="020B0700000000000000" pitchFamily="50" charset="-128"/>
                <a:ea typeface="Yu Gothic UI Semibold" panose="020B0700000000000000" pitchFamily="50" charset="-128"/>
              </a:rPr>
            </a:br>
            <a:endParaRPr kumimoji="1" lang="ja-JP" altLang="en-US" sz="2000" dirty="0">
              <a:latin typeface="Yu Gothic UI Semibold" panose="020B0700000000000000" pitchFamily="50" charset="-128"/>
              <a:ea typeface="Yu Gothic UI Semibold" panose="020B0700000000000000" pitchFamily="50" charset="-128"/>
            </a:endParaRPr>
          </a:p>
        </p:txBody>
      </p:sp>
    </p:spTree>
    <p:extLst>
      <p:ext uri="{BB962C8B-B14F-4D97-AF65-F5344CB8AC3E}">
        <p14:creationId xmlns:p14="http://schemas.microsoft.com/office/powerpoint/2010/main" val="9934347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87B170C7-E09C-469C-81DC-BD4D78433109}"/>
              </a:ext>
            </a:extLst>
          </p:cNvPr>
          <p:cNvSpPr txBox="1"/>
          <p:nvPr/>
        </p:nvSpPr>
        <p:spPr>
          <a:xfrm>
            <a:off x="0" y="0"/>
            <a:ext cx="7342909" cy="369332"/>
          </a:xfrm>
          <a:prstGeom prst="rect">
            <a:avLst/>
          </a:prstGeom>
          <a:noFill/>
        </p:spPr>
        <p:txBody>
          <a:bodyPr wrap="square" rtlCol="0">
            <a:spAutoFit/>
          </a:bodyPr>
          <a:lstStyle/>
          <a:p>
            <a:pPr algn="ctr"/>
            <a:r>
              <a:rPr lang="en-US" altLang="ja-JP" dirty="0">
                <a:latin typeface="Yu Gothic UI Semibold" panose="020B0700000000000000" pitchFamily="50" charset="-128"/>
                <a:ea typeface="Yu Gothic UI Semibold" panose="020B0700000000000000" pitchFamily="50" charset="-128"/>
              </a:rPr>
              <a:t> </a:t>
            </a:r>
            <a:endParaRPr lang="ja-JP" altLang="en-US" dirty="0">
              <a:latin typeface="Yu Gothic UI Semibold" panose="020B0700000000000000" pitchFamily="50" charset="-128"/>
              <a:ea typeface="Yu Gothic UI Semibold" panose="020B0700000000000000" pitchFamily="50" charset="-128"/>
            </a:endParaRPr>
          </a:p>
        </p:txBody>
      </p:sp>
      <p:sp>
        <p:nvSpPr>
          <p:cNvPr id="8" name="テキスト ボックス 7">
            <a:extLst>
              <a:ext uri="{FF2B5EF4-FFF2-40B4-BE49-F238E27FC236}">
                <a16:creationId xmlns:a16="http://schemas.microsoft.com/office/drawing/2014/main" id="{ED296AF3-7FD0-4FE3-A3F4-EE192EC95312}"/>
              </a:ext>
            </a:extLst>
          </p:cNvPr>
          <p:cNvSpPr txBox="1"/>
          <p:nvPr/>
        </p:nvSpPr>
        <p:spPr>
          <a:xfrm>
            <a:off x="221674" y="261443"/>
            <a:ext cx="10498878" cy="769441"/>
          </a:xfrm>
          <a:prstGeom prst="rect">
            <a:avLst/>
          </a:prstGeom>
          <a:noFill/>
        </p:spPr>
        <p:txBody>
          <a:bodyPr wrap="square" rtlCol="0">
            <a:spAutoFit/>
          </a:bodyPr>
          <a:lstStyle/>
          <a:p>
            <a:r>
              <a:rPr lang="en-US" altLang="ja-JP" sz="4400" b="0" i="0" u="none" strike="noStrike" dirty="0">
                <a:solidFill>
                  <a:schemeClr val="bg1"/>
                </a:solidFill>
                <a:effectLst/>
                <a:latin typeface="Yu Gothic UI Semibold" panose="020B0700000000000000" pitchFamily="50" charset="-128"/>
                <a:ea typeface="Yu Gothic UI Semibold" panose="020B0700000000000000" pitchFamily="50" charset="-128"/>
              </a:rPr>
              <a:t>Preliminary </a:t>
            </a:r>
            <a:r>
              <a:rPr lang="en-US" altLang="ja-JP" sz="4400" dirty="0">
                <a:solidFill>
                  <a:schemeClr val="bg1"/>
                </a:solidFill>
                <a:latin typeface="Yu Gothic UI Semibold" panose="020B0700000000000000" pitchFamily="50" charset="-128"/>
                <a:ea typeface="Yu Gothic UI Semibold" panose="020B0700000000000000" pitchFamily="50" charset="-128"/>
              </a:rPr>
              <a:t>Experiment</a:t>
            </a:r>
          </a:p>
        </p:txBody>
      </p:sp>
      <p:sp>
        <p:nvSpPr>
          <p:cNvPr id="12" name="テキスト ボックス 11">
            <a:extLst>
              <a:ext uri="{FF2B5EF4-FFF2-40B4-BE49-F238E27FC236}">
                <a16:creationId xmlns:a16="http://schemas.microsoft.com/office/drawing/2014/main" id="{6A19C1E2-3CE5-59FE-3FC4-2F4BE8CD6998}"/>
              </a:ext>
            </a:extLst>
          </p:cNvPr>
          <p:cNvSpPr txBox="1"/>
          <p:nvPr/>
        </p:nvSpPr>
        <p:spPr>
          <a:xfrm>
            <a:off x="221674" y="1560558"/>
            <a:ext cx="11581443" cy="461665"/>
          </a:xfrm>
          <a:prstGeom prst="rect">
            <a:avLst/>
          </a:prstGeom>
          <a:noFill/>
        </p:spPr>
        <p:txBody>
          <a:bodyPr wrap="square">
            <a:spAutoFit/>
          </a:bodyPr>
          <a:lstStyle/>
          <a:p>
            <a:r>
              <a:rPr lang="en-US" altLang="ja-JP" sz="2400" dirty="0">
                <a:latin typeface="Yu Gothic UI Semibold" panose="020B0700000000000000" pitchFamily="50" charset="-128"/>
                <a:ea typeface="Yu Gothic UI Semibold" panose="020B0700000000000000" pitchFamily="50" charset="-128"/>
              </a:rPr>
              <a:t>Train Diffusion models and Pix2Pix</a:t>
            </a:r>
          </a:p>
        </p:txBody>
      </p:sp>
      <p:graphicFrame>
        <p:nvGraphicFramePr>
          <p:cNvPr id="10" name="表 9">
            <a:extLst>
              <a:ext uri="{FF2B5EF4-FFF2-40B4-BE49-F238E27FC236}">
                <a16:creationId xmlns:a16="http://schemas.microsoft.com/office/drawing/2014/main" id="{AD751187-1F95-656D-3892-3F44B4E25F36}"/>
              </a:ext>
            </a:extLst>
          </p:cNvPr>
          <p:cNvGraphicFramePr>
            <a:graphicFrameLocks noGrp="1"/>
          </p:cNvGraphicFramePr>
          <p:nvPr>
            <p:extLst>
              <p:ext uri="{D42A27DB-BD31-4B8C-83A1-F6EECF244321}">
                <p14:modId xmlns:p14="http://schemas.microsoft.com/office/powerpoint/2010/main" val="3328651978"/>
              </p:ext>
            </p:extLst>
          </p:nvPr>
        </p:nvGraphicFramePr>
        <p:xfrm>
          <a:off x="772988" y="3391698"/>
          <a:ext cx="10646024" cy="2595880"/>
        </p:xfrm>
        <a:graphic>
          <a:graphicData uri="http://schemas.openxmlformats.org/drawingml/2006/table">
            <a:tbl>
              <a:tblPr firstRow="1" bandRow="1">
                <a:tableStyleId>{5940675A-B579-460E-94D1-54222C63F5DA}</a:tableStyleId>
              </a:tblPr>
              <a:tblGrid>
                <a:gridCol w="1866804">
                  <a:extLst>
                    <a:ext uri="{9D8B030D-6E8A-4147-A177-3AD203B41FA5}">
                      <a16:colId xmlns:a16="http://schemas.microsoft.com/office/drawing/2014/main" val="681114030"/>
                    </a:ext>
                  </a:extLst>
                </a:gridCol>
                <a:gridCol w="2194805">
                  <a:extLst>
                    <a:ext uri="{9D8B030D-6E8A-4147-A177-3AD203B41FA5}">
                      <a16:colId xmlns:a16="http://schemas.microsoft.com/office/drawing/2014/main" val="1693781111"/>
                    </a:ext>
                  </a:extLst>
                </a:gridCol>
                <a:gridCol w="2194805">
                  <a:extLst>
                    <a:ext uri="{9D8B030D-6E8A-4147-A177-3AD203B41FA5}">
                      <a16:colId xmlns:a16="http://schemas.microsoft.com/office/drawing/2014/main" val="1154397065"/>
                    </a:ext>
                  </a:extLst>
                </a:gridCol>
                <a:gridCol w="2194805">
                  <a:extLst>
                    <a:ext uri="{9D8B030D-6E8A-4147-A177-3AD203B41FA5}">
                      <a16:colId xmlns:a16="http://schemas.microsoft.com/office/drawing/2014/main" val="321304829"/>
                    </a:ext>
                  </a:extLst>
                </a:gridCol>
                <a:gridCol w="2194805">
                  <a:extLst>
                    <a:ext uri="{9D8B030D-6E8A-4147-A177-3AD203B41FA5}">
                      <a16:colId xmlns:a16="http://schemas.microsoft.com/office/drawing/2014/main" val="2134809353"/>
                    </a:ext>
                  </a:extLst>
                </a:gridCol>
              </a:tblGrid>
              <a:tr h="370840">
                <a:tc>
                  <a:txBody>
                    <a:bodyPr/>
                    <a:lstStyle/>
                    <a:p>
                      <a:pPr algn="ctr"/>
                      <a:r>
                        <a:rPr kumimoji="1" lang="en-US" altLang="ja-JP" dirty="0">
                          <a:latin typeface="Yu Gothic UI Semibold" panose="020B0700000000000000" pitchFamily="50" charset="-128"/>
                          <a:ea typeface="Yu Gothic UI Semibold" panose="020B0700000000000000" pitchFamily="50" charset="-128"/>
                        </a:rPr>
                        <a:t>No.</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1</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2</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3</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4</a:t>
                      </a:r>
                      <a:endParaRPr kumimoji="1" lang="ja-JP" altLang="en-US" dirty="0">
                        <a:latin typeface="Yu Gothic UI Semibold" panose="020B0700000000000000" pitchFamily="50" charset="-128"/>
                        <a:ea typeface="Yu Gothic UI Semibold" panose="020B0700000000000000" pitchFamily="50" charset="-128"/>
                      </a:endParaRPr>
                    </a:p>
                  </a:txBody>
                  <a:tcPr/>
                </a:tc>
                <a:extLst>
                  <a:ext uri="{0D108BD9-81ED-4DB2-BD59-A6C34878D82A}">
                    <a16:rowId xmlns:a16="http://schemas.microsoft.com/office/drawing/2014/main" val="2989749149"/>
                  </a:ext>
                </a:extLst>
              </a:tr>
              <a:tr h="370840">
                <a:tc>
                  <a:txBody>
                    <a:bodyPr/>
                    <a:lstStyle/>
                    <a:p>
                      <a:pPr algn="ctr"/>
                      <a:r>
                        <a:rPr kumimoji="1" lang="en-US" altLang="ja-JP" dirty="0">
                          <a:latin typeface="Yu Gothic UI Semibold" panose="020B0700000000000000" pitchFamily="50" charset="-128"/>
                          <a:ea typeface="Yu Gothic UI Semibold" panose="020B0700000000000000" pitchFamily="50" charset="-128"/>
                        </a:rPr>
                        <a:t>Model</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Diffusion </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Diffusion</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Diffusion</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Pix2Pix</a:t>
                      </a:r>
                      <a:endParaRPr kumimoji="1" lang="ja-JP" altLang="en-US" dirty="0">
                        <a:latin typeface="Yu Gothic UI Semibold" panose="020B0700000000000000" pitchFamily="50" charset="-128"/>
                        <a:ea typeface="Yu Gothic UI Semibold" panose="020B0700000000000000" pitchFamily="50" charset="-128"/>
                      </a:endParaRPr>
                    </a:p>
                  </a:txBody>
                  <a:tcPr/>
                </a:tc>
                <a:extLst>
                  <a:ext uri="{0D108BD9-81ED-4DB2-BD59-A6C34878D82A}">
                    <a16:rowId xmlns:a16="http://schemas.microsoft.com/office/drawing/2014/main" val="1777198923"/>
                  </a:ext>
                </a:extLst>
              </a:tr>
              <a:tr h="370840">
                <a:tc>
                  <a:txBody>
                    <a:bodyPr/>
                    <a:lstStyle/>
                    <a:p>
                      <a:pPr algn="ctr"/>
                      <a:r>
                        <a:rPr kumimoji="1" lang="en-US" altLang="ja-JP" dirty="0">
                          <a:latin typeface="Yu Gothic UI Semibold" panose="020B0700000000000000" pitchFamily="50" charset="-128"/>
                          <a:ea typeface="Yu Gothic UI Semibold" panose="020B0700000000000000" pitchFamily="50" charset="-128"/>
                        </a:rPr>
                        <a:t>Train</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50set</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2500set</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2500set</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2500set</a:t>
                      </a:r>
                      <a:endParaRPr kumimoji="1" lang="ja-JP" altLang="en-US" dirty="0">
                        <a:latin typeface="Yu Gothic UI Semibold" panose="020B0700000000000000" pitchFamily="50" charset="-128"/>
                        <a:ea typeface="Yu Gothic UI Semibold" panose="020B0700000000000000" pitchFamily="50" charset="-128"/>
                      </a:endParaRPr>
                    </a:p>
                  </a:txBody>
                  <a:tcPr/>
                </a:tc>
                <a:extLst>
                  <a:ext uri="{0D108BD9-81ED-4DB2-BD59-A6C34878D82A}">
                    <a16:rowId xmlns:a16="http://schemas.microsoft.com/office/drawing/2014/main" val="4085444479"/>
                  </a:ext>
                </a:extLst>
              </a:tr>
              <a:tr h="370840">
                <a:tc>
                  <a:txBody>
                    <a:bodyPr/>
                    <a:lstStyle/>
                    <a:p>
                      <a:pPr algn="ctr"/>
                      <a:r>
                        <a:rPr kumimoji="1" lang="en-US" altLang="ja-JP" dirty="0">
                          <a:latin typeface="Yu Gothic UI Semibold" panose="020B0700000000000000" pitchFamily="50" charset="-128"/>
                          <a:ea typeface="Yu Gothic UI Semibold" panose="020B0700000000000000" pitchFamily="50" charset="-128"/>
                        </a:rPr>
                        <a:t>Validation</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1set</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1set</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1set</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1set</a:t>
                      </a:r>
                      <a:endParaRPr kumimoji="1" lang="ja-JP" altLang="en-US" dirty="0">
                        <a:latin typeface="Yu Gothic UI Semibold" panose="020B0700000000000000" pitchFamily="50" charset="-128"/>
                        <a:ea typeface="Yu Gothic UI Semibold" panose="020B0700000000000000" pitchFamily="50" charset="-128"/>
                      </a:endParaRPr>
                    </a:p>
                  </a:txBody>
                  <a:tcPr/>
                </a:tc>
                <a:extLst>
                  <a:ext uri="{0D108BD9-81ED-4DB2-BD59-A6C34878D82A}">
                    <a16:rowId xmlns:a16="http://schemas.microsoft.com/office/drawing/2014/main" val="129410485"/>
                  </a:ext>
                </a:extLst>
              </a:tr>
              <a:tr h="370840">
                <a:tc>
                  <a:txBody>
                    <a:bodyPr/>
                    <a:lstStyle/>
                    <a:p>
                      <a:pPr algn="ctr"/>
                      <a:r>
                        <a:rPr kumimoji="1" lang="en-US" altLang="ja-JP">
                          <a:latin typeface="Yu Gothic UI Semibold" panose="020B0700000000000000" pitchFamily="50" charset="-128"/>
                          <a:ea typeface="Yu Gothic UI Semibold" panose="020B0700000000000000" pitchFamily="50" charset="-128"/>
                        </a:rPr>
                        <a:t>Unet Channel</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64,128,256,512</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64,128,256,512</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64,64,64,64</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64,128,256</a:t>
                      </a:r>
                      <a:endParaRPr kumimoji="1" lang="ja-JP" altLang="en-US" dirty="0">
                        <a:latin typeface="Yu Gothic UI Semibold" panose="020B0700000000000000" pitchFamily="50" charset="-128"/>
                        <a:ea typeface="Yu Gothic UI Semibold" panose="020B0700000000000000" pitchFamily="50" charset="-128"/>
                      </a:endParaRPr>
                    </a:p>
                  </a:txBody>
                  <a:tcPr/>
                </a:tc>
                <a:extLst>
                  <a:ext uri="{0D108BD9-81ED-4DB2-BD59-A6C34878D82A}">
                    <a16:rowId xmlns:a16="http://schemas.microsoft.com/office/drawing/2014/main" val="471809253"/>
                  </a:ext>
                </a:extLst>
              </a:tr>
              <a:tr h="370840">
                <a:tc>
                  <a:txBody>
                    <a:bodyPr/>
                    <a:lstStyle/>
                    <a:p>
                      <a:pPr algn="ctr"/>
                      <a:r>
                        <a:rPr kumimoji="1" lang="en-US" altLang="ja-JP" dirty="0">
                          <a:latin typeface="Yu Gothic UI Semibold" panose="020B0700000000000000" pitchFamily="50" charset="-128"/>
                          <a:ea typeface="Yu Gothic UI Semibold" panose="020B0700000000000000" pitchFamily="50" charset="-128"/>
                        </a:rPr>
                        <a:t>Batch</a:t>
                      </a:r>
                      <a:r>
                        <a:rPr kumimoji="1" lang="ja-JP" altLang="en-US" dirty="0">
                          <a:latin typeface="Yu Gothic UI Semibold" panose="020B0700000000000000" pitchFamily="50" charset="-128"/>
                          <a:ea typeface="Yu Gothic UI Semibold" panose="020B0700000000000000" pitchFamily="50" charset="-128"/>
                        </a:rPr>
                        <a:t> </a:t>
                      </a:r>
                      <a:r>
                        <a:rPr kumimoji="1" lang="en-US" altLang="ja-JP" dirty="0">
                          <a:latin typeface="Yu Gothic UI Semibold" panose="020B0700000000000000" pitchFamily="50" charset="-128"/>
                          <a:ea typeface="Yu Gothic UI Semibold" panose="020B0700000000000000" pitchFamily="50" charset="-128"/>
                        </a:rPr>
                        <a:t>size</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8</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8</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8</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8</a:t>
                      </a:r>
                      <a:endParaRPr kumimoji="1" lang="ja-JP" altLang="en-US" dirty="0">
                        <a:latin typeface="Yu Gothic UI Semibold" panose="020B0700000000000000" pitchFamily="50" charset="-128"/>
                        <a:ea typeface="Yu Gothic UI Semibold" panose="020B0700000000000000" pitchFamily="50" charset="-128"/>
                      </a:endParaRPr>
                    </a:p>
                  </a:txBody>
                  <a:tcPr/>
                </a:tc>
                <a:extLst>
                  <a:ext uri="{0D108BD9-81ED-4DB2-BD59-A6C34878D82A}">
                    <a16:rowId xmlns:a16="http://schemas.microsoft.com/office/drawing/2014/main" val="1045538713"/>
                  </a:ext>
                </a:extLst>
              </a:tr>
              <a:tr h="370840">
                <a:tc>
                  <a:txBody>
                    <a:bodyPr/>
                    <a:lstStyle/>
                    <a:p>
                      <a:pPr algn="ctr"/>
                      <a:r>
                        <a:rPr kumimoji="1" lang="en-US" altLang="ja-JP" dirty="0">
                          <a:latin typeface="Yu Gothic UI Semibold" panose="020B0700000000000000" pitchFamily="50" charset="-128"/>
                          <a:ea typeface="Yu Gothic UI Semibold" panose="020B0700000000000000" pitchFamily="50" charset="-128"/>
                        </a:rPr>
                        <a:t>Epoch</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1000</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1000</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1000</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1000</a:t>
                      </a:r>
                      <a:endParaRPr kumimoji="1" lang="ja-JP" altLang="en-US" dirty="0">
                        <a:latin typeface="Yu Gothic UI Semibold" panose="020B0700000000000000" pitchFamily="50" charset="-128"/>
                        <a:ea typeface="Yu Gothic UI Semibold" panose="020B0700000000000000" pitchFamily="50" charset="-128"/>
                      </a:endParaRPr>
                    </a:p>
                  </a:txBody>
                  <a:tcPr/>
                </a:tc>
                <a:extLst>
                  <a:ext uri="{0D108BD9-81ED-4DB2-BD59-A6C34878D82A}">
                    <a16:rowId xmlns:a16="http://schemas.microsoft.com/office/drawing/2014/main" val="160451871"/>
                  </a:ext>
                </a:extLst>
              </a:tr>
            </a:tbl>
          </a:graphicData>
        </a:graphic>
      </p:graphicFrame>
      <p:sp>
        <p:nvSpPr>
          <p:cNvPr id="16" name="スライド番号プレースホルダー 17">
            <a:extLst>
              <a:ext uri="{FF2B5EF4-FFF2-40B4-BE49-F238E27FC236}">
                <a16:creationId xmlns:a16="http://schemas.microsoft.com/office/drawing/2014/main" id="{A67717DF-2DA1-7FF0-C21D-F0639AC96181}"/>
              </a:ext>
            </a:extLst>
          </p:cNvPr>
          <p:cNvSpPr>
            <a:spLocks noGrp="1"/>
          </p:cNvSpPr>
          <p:nvPr>
            <p:ph type="sldNum" sz="quarter" idx="12"/>
          </p:nvPr>
        </p:nvSpPr>
        <p:spPr>
          <a:xfrm>
            <a:off x="8610600" y="6356354"/>
            <a:ext cx="2743200" cy="365125"/>
          </a:xfrm>
        </p:spPr>
        <p:txBody>
          <a:bodyPr/>
          <a:lstStyle/>
          <a:p>
            <a:fld id="{86DB81D5-40F9-4C3D-9CD4-6800D23EE77D}" type="slidenum">
              <a:rPr kumimoji="1" lang="ja-JP" altLang="en-US" smtClean="0">
                <a:latin typeface="Yu Gothic UI Semibold" panose="020B0700000000000000" pitchFamily="50" charset="-128"/>
                <a:ea typeface="Yu Gothic UI Semibold" panose="020B0700000000000000" pitchFamily="50" charset="-128"/>
              </a:rPr>
              <a:t>6</a:t>
            </a:fld>
            <a:endParaRPr kumimoji="1" lang="ja-JP" altLang="en-US">
              <a:latin typeface="Yu Gothic UI Semibold" panose="020B0700000000000000" pitchFamily="50" charset="-128"/>
              <a:ea typeface="Yu Gothic UI Semibold" panose="020B0700000000000000" pitchFamily="50" charset="-128"/>
            </a:endParaRPr>
          </a:p>
        </p:txBody>
      </p:sp>
      <p:sp>
        <p:nvSpPr>
          <p:cNvPr id="24" name="テキスト ボックス 23">
            <a:extLst>
              <a:ext uri="{FF2B5EF4-FFF2-40B4-BE49-F238E27FC236}">
                <a16:creationId xmlns:a16="http://schemas.microsoft.com/office/drawing/2014/main" id="{98B7476C-9C54-157A-0444-55785DEC571E}"/>
              </a:ext>
            </a:extLst>
          </p:cNvPr>
          <p:cNvSpPr txBox="1"/>
          <p:nvPr/>
        </p:nvSpPr>
        <p:spPr>
          <a:xfrm>
            <a:off x="3040118" y="3019649"/>
            <a:ext cx="6111764" cy="369332"/>
          </a:xfrm>
          <a:prstGeom prst="rect">
            <a:avLst/>
          </a:prstGeom>
          <a:noFill/>
        </p:spPr>
        <p:txBody>
          <a:bodyPr wrap="square">
            <a:spAutoFit/>
          </a:bodyPr>
          <a:lstStyle/>
          <a:p>
            <a:pPr algn="ctr"/>
            <a:r>
              <a:rPr lang="en-US" altLang="ja-JP" sz="1800" dirty="0">
                <a:latin typeface="Yu Gothic UI Semibold" panose="020B0700000000000000" pitchFamily="50" charset="-128"/>
                <a:ea typeface="Yu Gothic UI Semibold" panose="020B0700000000000000" pitchFamily="50" charset="-128"/>
              </a:rPr>
              <a:t>Train Condition</a:t>
            </a:r>
            <a:endParaRPr lang="ja-JP" altLang="en-US" dirty="0"/>
          </a:p>
        </p:txBody>
      </p:sp>
    </p:spTree>
    <p:extLst>
      <p:ext uri="{BB962C8B-B14F-4D97-AF65-F5344CB8AC3E}">
        <p14:creationId xmlns:p14="http://schemas.microsoft.com/office/powerpoint/2010/main" val="30188078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テキスト ボックス 15">
            <a:extLst>
              <a:ext uri="{FF2B5EF4-FFF2-40B4-BE49-F238E27FC236}">
                <a16:creationId xmlns:a16="http://schemas.microsoft.com/office/drawing/2014/main" id="{E28DE479-42D6-8BFC-75CC-D1349E608658}"/>
              </a:ext>
            </a:extLst>
          </p:cNvPr>
          <p:cNvSpPr txBox="1"/>
          <p:nvPr/>
        </p:nvSpPr>
        <p:spPr>
          <a:xfrm>
            <a:off x="221674" y="261443"/>
            <a:ext cx="3999345" cy="769441"/>
          </a:xfrm>
          <a:prstGeom prst="rect">
            <a:avLst/>
          </a:prstGeom>
          <a:noFill/>
        </p:spPr>
        <p:txBody>
          <a:bodyPr wrap="square" rtlCol="0">
            <a:spAutoFit/>
          </a:bodyPr>
          <a:lstStyle/>
          <a:p>
            <a:r>
              <a:rPr lang="en-US" altLang="ja-JP" sz="4400" dirty="0">
                <a:solidFill>
                  <a:schemeClr val="bg1"/>
                </a:solidFill>
                <a:latin typeface="Yu Gothic UI Semibold" panose="020B0700000000000000" pitchFamily="50" charset="-128"/>
                <a:ea typeface="Yu Gothic UI Semibold" panose="020B0700000000000000" pitchFamily="50" charset="-128"/>
              </a:rPr>
              <a:t>Result</a:t>
            </a:r>
          </a:p>
        </p:txBody>
      </p:sp>
      <p:sp>
        <p:nvSpPr>
          <p:cNvPr id="18" name="スライド番号プレースホルダー 17">
            <a:extLst>
              <a:ext uri="{FF2B5EF4-FFF2-40B4-BE49-F238E27FC236}">
                <a16:creationId xmlns:a16="http://schemas.microsoft.com/office/drawing/2014/main" id="{931661E6-4619-C72A-0AC3-A8F934BFEBEA}"/>
              </a:ext>
            </a:extLst>
          </p:cNvPr>
          <p:cNvSpPr>
            <a:spLocks noGrp="1"/>
          </p:cNvSpPr>
          <p:nvPr>
            <p:ph type="sldNum" sz="quarter" idx="12"/>
          </p:nvPr>
        </p:nvSpPr>
        <p:spPr/>
        <p:txBody>
          <a:bodyPr/>
          <a:lstStyle/>
          <a:p>
            <a:fld id="{86DB81D5-40F9-4C3D-9CD4-6800D23EE77D}" type="slidenum">
              <a:rPr kumimoji="1" lang="ja-JP" altLang="en-US" smtClean="0"/>
              <a:t>7</a:t>
            </a:fld>
            <a:endParaRPr kumimoji="1" lang="ja-JP" altLang="en-US"/>
          </a:p>
        </p:txBody>
      </p:sp>
      <p:sp>
        <p:nvSpPr>
          <p:cNvPr id="3" name="スライド番号プレースホルダー 17">
            <a:extLst>
              <a:ext uri="{FF2B5EF4-FFF2-40B4-BE49-F238E27FC236}">
                <a16:creationId xmlns:a16="http://schemas.microsoft.com/office/drawing/2014/main" id="{B46120DA-9959-77AA-AA81-B22B0597929F}"/>
              </a:ext>
            </a:extLst>
          </p:cNvPr>
          <p:cNvSpPr txBox="1">
            <a:spLocks/>
          </p:cNvSpPr>
          <p:nvPr/>
        </p:nvSpPr>
        <p:spPr>
          <a:xfrm>
            <a:off x="10844982" y="6354143"/>
            <a:ext cx="508818" cy="365125"/>
          </a:xfrm>
          <a:prstGeom prst="rect">
            <a:avLst/>
          </a:prstGeom>
          <a:solidFill>
            <a:schemeClr val="bg1"/>
          </a:solidFill>
        </p:spPr>
        <p:txBody>
          <a:bodyPr vert="horz" lIns="91440" tIns="45720" rIns="91440" bIns="45720" rtlCol="0" anchor="ctr"/>
          <a:lstStyle>
            <a:defPPr>
              <a:defRPr lang="ja-JP"/>
            </a:defPPr>
            <a:lvl1pPr marL="0" algn="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86DB81D5-40F9-4C3D-9CD4-6800D23EE77D}" type="slidenum">
              <a:rPr lang="ja-JP" altLang="en-US" smtClean="0"/>
              <a:pPr/>
              <a:t>7</a:t>
            </a:fld>
            <a:endParaRPr lang="ja-JP" altLang="en-US" dirty="0"/>
          </a:p>
        </p:txBody>
      </p:sp>
      <p:pic>
        <p:nvPicPr>
          <p:cNvPr id="4" name="図 3">
            <a:extLst>
              <a:ext uri="{FF2B5EF4-FFF2-40B4-BE49-F238E27FC236}">
                <a16:creationId xmlns:a16="http://schemas.microsoft.com/office/drawing/2014/main" id="{E6F01B76-AC1B-F660-DDB8-D28DFEF4F447}"/>
              </a:ext>
            </a:extLst>
          </p:cNvPr>
          <p:cNvPicPr>
            <a:picLocks noChangeAspect="1"/>
          </p:cNvPicPr>
          <p:nvPr/>
        </p:nvPicPr>
        <p:blipFill>
          <a:blip r:embed="rId3"/>
          <a:stretch>
            <a:fillRect/>
          </a:stretch>
        </p:blipFill>
        <p:spPr>
          <a:xfrm>
            <a:off x="3464326" y="2189074"/>
            <a:ext cx="2743200" cy="2479853"/>
          </a:xfrm>
          <a:prstGeom prst="rect">
            <a:avLst/>
          </a:prstGeom>
        </p:spPr>
      </p:pic>
      <p:pic>
        <p:nvPicPr>
          <p:cNvPr id="5" name="図 4">
            <a:extLst>
              <a:ext uri="{FF2B5EF4-FFF2-40B4-BE49-F238E27FC236}">
                <a16:creationId xmlns:a16="http://schemas.microsoft.com/office/drawing/2014/main" id="{D0B24B40-E587-1A5C-1D1C-463B4256C184}"/>
              </a:ext>
            </a:extLst>
          </p:cNvPr>
          <p:cNvPicPr>
            <a:picLocks noChangeAspect="1"/>
          </p:cNvPicPr>
          <p:nvPr/>
        </p:nvPicPr>
        <p:blipFill>
          <a:blip r:embed="rId4"/>
          <a:stretch>
            <a:fillRect/>
          </a:stretch>
        </p:blipFill>
        <p:spPr>
          <a:xfrm>
            <a:off x="6592852" y="2189074"/>
            <a:ext cx="2743668" cy="2479854"/>
          </a:xfrm>
          <a:prstGeom prst="rect">
            <a:avLst/>
          </a:prstGeom>
        </p:spPr>
      </p:pic>
      <p:pic>
        <p:nvPicPr>
          <p:cNvPr id="6" name="図 5">
            <a:extLst>
              <a:ext uri="{FF2B5EF4-FFF2-40B4-BE49-F238E27FC236}">
                <a16:creationId xmlns:a16="http://schemas.microsoft.com/office/drawing/2014/main" id="{501B3AFE-A34F-57C7-1A8C-9ED21E564396}"/>
              </a:ext>
            </a:extLst>
          </p:cNvPr>
          <p:cNvPicPr>
            <a:picLocks noChangeAspect="1"/>
          </p:cNvPicPr>
          <p:nvPr/>
        </p:nvPicPr>
        <p:blipFill>
          <a:blip r:embed="rId5"/>
          <a:stretch>
            <a:fillRect/>
          </a:stretch>
        </p:blipFill>
        <p:spPr>
          <a:xfrm>
            <a:off x="483554" y="2225996"/>
            <a:ext cx="2819767" cy="2442931"/>
          </a:xfrm>
          <a:prstGeom prst="rect">
            <a:avLst/>
          </a:prstGeom>
        </p:spPr>
      </p:pic>
      <p:pic>
        <p:nvPicPr>
          <p:cNvPr id="7" name="図 6">
            <a:extLst>
              <a:ext uri="{FF2B5EF4-FFF2-40B4-BE49-F238E27FC236}">
                <a16:creationId xmlns:a16="http://schemas.microsoft.com/office/drawing/2014/main" id="{6DEF5983-816A-5682-134A-9FE167D6D2C2}"/>
              </a:ext>
            </a:extLst>
          </p:cNvPr>
          <p:cNvPicPr>
            <a:picLocks noChangeAspect="1"/>
          </p:cNvPicPr>
          <p:nvPr/>
        </p:nvPicPr>
        <p:blipFill>
          <a:blip r:embed="rId6"/>
          <a:stretch>
            <a:fillRect/>
          </a:stretch>
        </p:blipFill>
        <p:spPr>
          <a:xfrm>
            <a:off x="9497057" y="2189073"/>
            <a:ext cx="2694943" cy="2479854"/>
          </a:xfrm>
          <a:prstGeom prst="rect">
            <a:avLst/>
          </a:prstGeom>
        </p:spPr>
      </p:pic>
      <p:pic>
        <p:nvPicPr>
          <p:cNvPr id="8" name="図 7">
            <a:extLst>
              <a:ext uri="{FF2B5EF4-FFF2-40B4-BE49-F238E27FC236}">
                <a16:creationId xmlns:a16="http://schemas.microsoft.com/office/drawing/2014/main" id="{DF2A9FC3-3B63-A952-0090-41CB9E5BEF78}"/>
              </a:ext>
            </a:extLst>
          </p:cNvPr>
          <p:cNvPicPr>
            <a:picLocks noChangeAspect="1"/>
          </p:cNvPicPr>
          <p:nvPr/>
        </p:nvPicPr>
        <p:blipFill>
          <a:blip r:embed="rId7"/>
          <a:stretch>
            <a:fillRect/>
          </a:stretch>
        </p:blipFill>
        <p:spPr>
          <a:xfrm>
            <a:off x="838200" y="5045140"/>
            <a:ext cx="6415623" cy="1637797"/>
          </a:xfrm>
          <a:prstGeom prst="rect">
            <a:avLst/>
          </a:prstGeom>
          <a:solidFill>
            <a:schemeClr val="bg1"/>
          </a:solidFill>
        </p:spPr>
      </p:pic>
      <p:sp>
        <p:nvSpPr>
          <p:cNvPr id="9" name="テキスト ボックス 8">
            <a:extLst>
              <a:ext uri="{FF2B5EF4-FFF2-40B4-BE49-F238E27FC236}">
                <a16:creationId xmlns:a16="http://schemas.microsoft.com/office/drawing/2014/main" id="{0C132898-5F96-ED4B-E2DA-C83BC3AF480C}"/>
              </a:ext>
            </a:extLst>
          </p:cNvPr>
          <p:cNvSpPr txBox="1"/>
          <p:nvPr/>
        </p:nvSpPr>
        <p:spPr>
          <a:xfrm>
            <a:off x="1354567" y="1856664"/>
            <a:ext cx="1187264" cy="369332"/>
          </a:xfrm>
          <a:prstGeom prst="rect">
            <a:avLst/>
          </a:prstGeom>
          <a:noFill/>
        </p:spPr>
        <p:txBody>
          <a:bodyPr wrap="square" rtlCol="0">
            <a:spAutoFit/>
          </a:bodyPr>
          <a:lstStyle/>
          <a:p>
            <a:pPr algn="ctr"/>
            <a:r>
              <a:rPr lang="en-US" altLang="ja-JP" dirty="0">
                <a:latin typeface="Yu Gothic UI Semibold" panose="020B0700000000000000" pitchFamily="50" charset="-128"/>
                <a:ea typeface="Yu Gothic UI Semibold" panose="020B0700000000000000" pitchFamily="50" charset="-128"/>
              </a:rPr>
              <a:t>1</a:t>
            </a:r>
          </a:p>
        </p:txBody>
      </p:sp>
      <p:sp>
        <p:nvSpPr>
          <p:cNvPr id="10" name="テキスト ボックス 9">
            <a:extLst>
              <a:ext uri="{FF2B5EF4-FFF2-40B4-BE49-F238E27FC236}">
                <a16:creationId xmlns:a16="http://schemas.microsoft.com/office/drawing/2014/main" id="{2474604C-B6EA-98BD-2689-91A8A6E1A2D4}"/>
              </a:ext>
            </a:extLst>
          </p:cNvPr>
          <p:cNvSpPr txBox="1"/>
          <p:nvPr/>
        </p:nvSpPr>
        <p:spPr>
          <a:xfrm>
            <a:off x="4434177" y="1849478"/>
            <a:ext cx="1187264" cy="369332"/>
          </a:xfrm>
          <a:prstGeom prst="rect">
            <a:avLst/>
          </a:prstGeom>
          <a:noFill/>
        </p:spPr>
        <p:txBody>
          <a:bodyPr wrap="square" rtlCol="0">
            <a:spAutoFit/>
          </a:bodyPr>
          <a:lstStyle/>
          <a:p>
            <a:pPr algn="ctr"/>
            <a:r>
              <a:rPr lang="en-US" altLang="ja-JP" dirty="0">
                <a:latin typeface="Yu Gothic UI Semibold" panose="020B0700000000000000" pitchFamily="50" charset="-128"/>
                <a:ea typeface="Yu Gothic UI Semibold" panose="020B0700000000000000" pitchFamily="50" charset="-128"/>
              </a:rPr>
              <a:t>2</a:t>
            </a:r>
          </a:p>
        </p:txBody>
      </p:sp>
      <p:sp>
        <p:nvSpPr>
          <p:cNvPr id="11" name="テキスト ボックス 10">
            <a:extLst>
              <a:ext uri="{FF2B5EF4-FFF2-40B4-BE49-F238E27FC236}">
                <a16:creationId xmlns:a16="http://schemas.microsoft.com/office/drawing/2014/main" id="{D4A09476-09B9-271A-EF99-760FD621BD52}"/>
              </a:ext>
            </a:extLst>
          </p:cNvPr>
          <p:cNvSpPr txBox="1"/>
          <p:nvPr/>
        </p:nvSpPr>
        <p:spPr>
          <a:xfrm>
            <a:off x="7533530" y="1856664"/>
            <a:ext cx="1187264" cy="369332"/>
          </a:xfrm>
          <a:prstGeom prst="rect">
            <a:avLst/>
          </a:prstGeom>
          <a:noFill/>
        </p:spPr>
        <p:txBody>
          <a:bodyPr wrap="square" rtlCol="0">
            <a:spAutoFit/>
          </a:bodyPr>
          <a:lstStyle/>
          <a:p>
            <a:pPr algn="ctr"/>
            <a:r>
              <a:rPr lang="en-US" altLang="ja-JP" dirty="0">
                <a:latin typeface="Yu Gothic UI Semibold" panose="020B0700000000000000" pitchFamily="50" charset="-128"/>
                <a:ea typeface="Yu Gothic UI Semibold" panose="020B0700000000000000" pitchFamily="50" charset="-128"/>
              </a:rPr>
              <a:t>3</a:t>
            </a:r>
          </a:p>
        </p:txBody>
      </p:sp>
      <p:sp>
        <p:nvSpPr>
          <p:cNvPr id="12" name="テキスト ボックス 11">
            <a:extLst>
              <a:ext uri="{FF2B5EF4-FFF2-40B4-BE49-F238E27FC236}">
                <a16:creationId xmlns:a16="http://schemas.microsoft.com/office/drawing/2014/main" id="{9A556900-95D2-3AE0-9431-B04A45ECF509}"/>
              </a:ext>
            </a:extLst>
          </p:cNvPr>
          <p:cNvSpPr txBox="1"/>
          <p:nvPr/>
        </p:nvSpPr>
        <p:spPr>
          <a:xfrm>
            <a:off x="10406263" y="1849478"/>
            <a:ext cx="1187264" cy="369332"/>
          </a:xfrm>
          <a:prstGeom prst="rect">
            <a:avLst/>
          </a:prstGeom>
          <a:noFill/>
        </p:spPr>
        <p:txBody>
          <a:bodyPr wrap="square" rtlCol="0">
            <a:spAutoFit/>
          </a:bodyPr>
          <a:lstStyle/>
          <a:p>
            <a:pPr algn="ctr"/>
            <a:r>
              <a:rPr lang="en-US" altLang="ja-JP" dirty="0">
                <a:latin typeface="Yu Gothic UI Semibold" panose="020B0700000000000000" pitchFamily="50" charset="-128"/>
                <a:ea typeface="Yu Gothic UI Semibold" panose="020B0700000000000000" pitchFamily="50" charset="-128"/>
              </a:rPr>
              <a:t>4</a:t>
            </a:r>
          </a:p>
        </p:txBody>
      </p:sp>
    </p:spTree>
    <p:extLst>
      <p:ext uri="{BB962C8B-B14F-4D97-AF65-F5344CB8AC3E}">
        <p14:creationId xmlns:p14="http://schemas.microsoft.com/office/powerpoint/2010/main" val="2981443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CAD39A3C-51A1-CD7C-A0F2-5FD99D06BA2C}"/>
              </a:ext>
            </a:extLst>
          </p:cNvPr>
          <p:cNvSpPr txBox="1"/>
          <p:nvPr/>
        </p:nvSpPr>
        <p:spPr>
          <a:xfrm>
            <a:off x="974834" y="1366198"/>
            <a:ext cx="810186" cy="369332"/>
          </a:xfrm>
          <a:prstGeom prst="rect">
            <a:avLst/>
          </a:prstGeom>
          <a:noFill/>
        </p:spPr>
        <p:txBody>
          <a:bodyPr wrap="square" rtlCol="0">
            <a:spAutoFit/>
          </a:bodyPr>
          <a:lstStyle/>
          <a:p>
            <a:pPr algn="ctr"/>
            <a:r>
              <a:rPr kumimoji="1" lang="en-US" altLang="ja-JP" dirty="0">
                <a:latin typeface="Yu Gothic UI Semibold" panose="020B0700000000000000" pitchFamily="50" charset="-128"/>
                <a:ea typeface="Yu Gothic UI Semibold" panose="020B0700000000000000" pitchFamily="50" charset="-128"/>
              </a:rPr>
              <a:t>input</a:t>
            </a:r>
            <a:endParaRPr kumimoji="1" lang="ja-JP" altLang="en-US" dirty="0">
              <a:latin typeface="Yu Gothic UI Semibold" panose="020B0700000000000000" pitchFamily="50" charset="-128"/>
              <a:ea typeface="Yu Gothic UI Semibold" panose="020B0700000000000000" pitchFamily="50" charset="-128"/>
            </a:endParaRPr>
          </a:p>
        </p:txBody>
      </p:sp>
      <p:sp>
        <p:nvSpPr>
          <p:cNvPr id="4" name="テキスト ボックス 3">
            <a:extLst>
              <a:ext uri="{FF2B5EF4-FFF2-40B4-BE49-F238E27FC236}">
                <a16:creationId xmlns:a16="http://schemas.microsoft.com/office/drawing/2014/main" id="{BB929E84-703C-5B0F-AD6E-5C9AA13AECBD}"/>
              </a:ext>
            </a:extLst>
          </p:cNvPr>
          <p:cNvSpPr txBox="1"/>
          <p:nvPr/>
        </p:nvSpPr>
        <p:spPr>
          <a:xfrm>
            <a:off x="3464737" y="1361109"/>
            <a:ext cx="985588" cy="369332"/>
          </a:xfrm>
          <a:prstGeom prst="rect">
            <a:avLst/>
          </a:prstGeom>
          <a:noFill/>
        </p:spPr>
        <p:txBody>
          <a:bodyPr wrap="square" rtlCol="0">
            <a:spAutoFit/>
          </a:bodyPr>
          <a:lstStyle/>
          <a:p>
            <a:pPr algn="ctr"/>
            <a:r>
              <a:rPr kumimoji="1" lang="en-US" altLang="ja-JP" dirty="0">
                <a:latin typeface="Yu Gothic UI Semibold" panose="020B0700000000000000" pitchFamily="50" charset="-128"/>
                <a:ea typeface="Yu Gothic UI Semibold" panose="020B0700000000000000" pitchFamily="50" charset="-128"/>
              </a:rPr>
              <a:t>target</a:t>
            </a:r>
            <a:endParaRPr kumimoji="1" lang="ja-JP" altLang="en-US" dirty="0">
              <a:latin typeface="Yu Gothic UI Semibold" panose="020B0700000000000000" pitchFamily="50" charset="-128"/>
              <a:ea typeface="Yu Gothic UI Semibold" panose="020B0700000000000000" pitchFamily="50" charset="-128"/>
            </a:endParaRPr>
          </a:p>
        </p:txBody>
      </p:sp>
      <p:pic>
        <p:nvPicPr>
          <p:cNvPr id="6" name="図 5">
            <a:extLst>
              <a:ext uri="{FF2B5EF4-FFF2-40B4-BE49-F238E27FC236}">
                <a16:creationId xmlns:a16="http://schemas.microsoft.com/office/drawing/2014/main" id="{557828F3-803E-59DA-9BEE-1DDC57E27C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7428" y="4603783"/>
            <a:ext cx="1905000" cy="1905000"/>
          </a:xfrm>
          <a:prstGeom prst="rect">
            <a:avLst/>
          </a:prstGeom>
        </p:spPr>
      </p:pic>
      <p:pic>
        <p:nvPicPr>
          <p:cNvPr id="7" name="図 6">
            <a:extLst>
              <a:ext uri="{FF2B5EF4-FFF2-40B4-BE49-F238E27FC236}">
                <a16:creationId xmlns:a16="http://schemas.microsoft.com/office/drawing/2014/main" id="{8FED1767-975E-EB9B-ADD7-9D732B62D5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7427" y="1956167"/>
            <a:ext cx="1905000" cy="1905000"/>
          </a:xfrm>
          <a:prstGeom prst="rect">
            <a:avLst/>
          </a:prstGeom>
        </p:spPr>
      </p:pic>
      <p:pic>
        <p:nvPicPr>
          <p:cNvPr id="8" name="図 7" descr="挿絵 が含まれている画像&#10;&#10;自動的に生成された説明">
            <a:extLst>
              <a:ext uri="{FF2B5EF4-FFF2-40B4-BE49-F238E27FC236}">
                <a16:creationId xmlns:a16="http://schemas.microsoft.com/office/drawing/2014/main" id="{D4FC298E-2DBA-37B5-27B3-BDE87BE04E7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05031" y="1956167"/>
            <a:ext cx="1905000" cy="1905000"/>
          </a:xfrm>
          <a:prstGeom prst="rect">
            <a:avLst/>
          </a:prstGeom>
        </p:spPr>
      </p:pic>
      <p:pic>
        <p:nvPicPr>
          <p:cNvPr id="9" name="図 8" descr="グラフィカル ユーザー インターフェイス が含まれている画像&#10;&#10;自動的に生成された説明">
            <a:extLst>
              <a:ext uri="{FF2B5EF4-FFF2-40B4-BE49-F238E27FC236}">
                <a16:creationId xmlns:a16="http://schemas.microsoft.com/office/drawing/2014/main" id="{6C54B54C-DCEC-EA51-A506-B9B8711B3E00}"/>
              </a:ext>
            </a:extLst>
          </p:cNvPr>
          <p:cNvPicPr>
            <a:picLocks noChangeAspect="1"/>
          </p:cNvPicPr>
          <p:nvPr/>
        </p:nvPicPr>
        <p:blipFill rotWithShape="1">
          <a:blip r:embed="rId6">
            <a:extLst>
              <a:ext uri="{28A0092B-C50C-407E-A947-70E740481C1C}">
                <a14:useLocalDpi xmlns:a14="http://schemas.microsoft.com/office/drawing/2010/main" val="0"/>
              </a:ext>
            </a:extLst>
          </a:blip>
          <a:srcRect l="39846" t="27797" r="37292" b="26786"/>
          <a:stretch/>
        </p:blipFill>
        <p:spPr>
          <a:xfrm>
            <a:off x="8151981" y="4612619"/>
            <a:ext cx="1905001" cy="1892243"/>
          </a:xfrm>
          <a:prstGeom prst="rect">
            <a:avLst/>
          </a:prstGeom>
        </p:spPr>
      </p:pic>
      <p:sp>
        <p:nvSpPr>
          <p:cNvPr id="10" name="テキスト ボックス 9">
            <a:extLst>
              <a:ext uri="{FF2B5EF4-FFF2-40B4-BE49-F238E27FC236}">
                <a16:creationId xmlns:a16="http://schemas.microsoft.com/office/drawing/2014/main" id="{F77E96B6-1C46-6BE9-3486-6C0BC28AE01A}"/>
              </a:ext>
            </a:extLst>
          </p:cNvPr>
          <p:cNvSpPr txBox="1"/>
          <p:nvPr/>
        </p:nvSpPr>
        <p:spPr>
          <a:xfrm>
            <a:off x="8510849" y="4253478"/>
            <a:ext cx="1187264" cy="369332"/>
          </a:xfrm>
          <a:prstGeom prst="rect">
            <a:avLst/>
          </a:prstGeom>
          <a:noFill/>
        </p:spPr>
        <p:txBody>
          <a:bodyPr wrap="square" rtlCol="0">
            <a:spAutoFit/>
          </a:bodyPr>
          <a:lstStyle/>
          <a:p>
            <a:pPr algn="ctr"/>
            <a:r>
              <a:rPr lang="en-US" altLang="ja-JP" dirty="0">
                <a:latin typeface="Yu Gothic UI Semibold" panose="020B0700000000000000" pitchFamily="50" charset="-128"/>
                <a:ea typeface="Yu Gothic UI Semibold" panose="020B0700000000000000" pitchFamily="50" charset="-128"/>
              </a:rPr>
              <a:t>pix2pix</a:t>
            </a:r>
          </a:p>
        </p:txBody>
      </p:sp>
      <p:sp>
        <p:nvSpPr>
          <p:cNvPr id="16" name="テキスト ボックス 15">
            <a:extLst>
              <a:ext uri="{FF2B5EF4-FFF2-40B4-BE49-F238E27FC236}">
                <a16:creationId xmlns:a16="http://schemas.microsoft.com/office/drawing/2014/main" id="{E28DE479-42D6-8BFC-75CC-D1349E608658}"/>
              </a:ext>
            </a:extLst>
          </p:cNvPr>
          <p:cNvSpPr txBox="1"/>
          <p:nvPr/>
        </p:nvSpPr>
        <p:spPr>
          <a:xfrm>
            <a:off x="221674" y="261443"/>
            <a:ext cx="3999345" cy="769441"/>
          </a:xfrm>
          <a:prstGeom prst="rect">
            <a:avLst/>
          </a:prstGeom>
          <a:noFill/>
        </p:spPr>
        <p:txBody>
          <a:bodyPr wrap="square" rtlCol="0">
            <a:spAutoFit/>
          </a:bodyPr>
          <a:lstStyle/>
          <a:p>
            <a:r>
              <a:rPr lang="en-US" altLang="ja-JP" sz="4400" dirty="0">
                <a:solidFill>
                  <a:schemeClr val="bg1"/>
                </a:solidFill>
                <a:latin typeface="Yu Gothic UI Semibold" panose="020B0700000000000000" pitchFamily="50" charset="-128"/>
                <a:ea typeface="Yu Gothic UI Semibold" panose="020B0700000000000000" pitchFamily="50" charset="-128"/>
              </a:rPr>
              <a:t>Result</a:t>
            </a:r>
          </a:p>
        </p:txBody>
      </p:sp>
      <p:sp>
        <p:nvSpPr>
          <p:cNvPr id="18" name="スライド番号プレースホルダー 17">
            <a:extLst>
              <a:ext uri="{FF2B5EF4-FFF2-40B4-BE49-F238E27FC236}">
                <a16:creationId xmlns:a16="http://schemas.microsoft.com/office/drawing/2014/main" id="{931661E6-4619-C72A-0AC3-A8F934BFEBEA}"/>
              </a:ext>
            </a:extLst>
          </p:cNvPr>
          <p:cNvSpPr>
            <a:spLocks noGrp="1"/>
          </p:cNvSpPr>
          <p:nvPr>
            <p:ph type="sldNum" sz="quarter" idx="12"/>
          </p:nvPr>
        </p:nvSpPr>
        <p:spPr/>
        <p:txBody>
          <a:bodyPr/>
          <a:lstStyle/>
          <a:p>
            <a:fld id="{86DB81D5-40F9-4C3D-9CD4-6800D23EE77D}" type="slidenum">
              <a:rPr kumimoji="1" lang="ja-JP" altLang="en-US" smtClean="0"/>
              <a:t>8</a:t>
            </a:fld>
            <a:endParaRPr kumimoji="1" lang="ja-JP" altLang="en-US"/>
          </a:p>
        </p:txBody>
      </p:sp>
      <p:pic>
        <p:nvPicPr>
          <p:cNvPr id="23" name="図 22" descr="黒い背景と白い文字&#10;&#10;中程度の精度で自動的に生成された説明">
            <a:extLst>
              <a:ext uri="{FF2B5EF4-FFF2-40B4-BE49-F238E27FC236}">
                <a16:creationId xmlns:a16="http://schemas.microsoft.com/office/drawing/2014/main" id="{7CAD98D9-B16B-772A-044D-9265C43CBFE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621539" y="4603783"/>
            <a:ext cx="1905000" cy="1905000"/>
          </a:xfrm>
          <a:prstGeom prst="rect">
            <a:avLst/>
          </a:prstGeom>
        </p:spPr>
      </p:pic>
      <p:sp>
        <p:nvSpPr>
          <p:cNvPr id="11" name="テキスト ボックス 10">
            <a:extLst>
              <a:ext uri="{FF2B5EF4-FFF2-40B4-BE49-F238E27FC236}">
                <a16:creationId xmlns:a16="http://schemas.microsoft.com/office/drawing/2014/main" id="{574D08ED-2E38-449F-8C96-2D7E258CB1B9}"/>
              </a:ext>
            </a:extLst>
          </p:cNvPr>
          <p:cNvSpPr txBox="1"/>
          <p:nvPr/>
        </p:nvSpPr>
        <p:spPr>
          <a:xfrm>
            <a:off x="3383351" y="4230531"/>
            <a:ext cx="1187264" cy="369332"/>
          </a:xfrm>
          <a:prstGeom prst="rect">
            <a:avLst/>
          </a:prstGeom>
          <a:solidFill>
            <a:schemeClr val="bg1"/>
          </a:solidFill>
        </p:spPr>
        <p:txBody>
          <a:bodyPr wrap="square" rtlCol="0">
            <a:spAutoFit/>
          </a:bodyPr>
          <a:lstStyle/>
          <a:p>
            <a:pPr algn="ctr"/>
            <a:r>
              <a:rPr lang="en-US" altLang="ja-JP" dirty="0">
                <a:latin typeface="Yu Gothic UI Semibold" panose="020B0700000000000000" pitchFamily="50" charset="-128"/>
                <a:ea typeface="Yu Gothic UI Semibold" panose="020B0700000000000000" pitchFamily="50" charset="-128"/>
              </a:rPr>
              <a:t>Diffusion</a:t>
            </a:r>
          </a:p>
        </p:txBody>
      </p:sp>
      <p:pic>
        <p:nvPicPr>
          <p:cNvPr id="34" name="図 33" descr="挿絵 が含まれている画像&#10;&#10;自動的に生成された説明">
            <a:extLst>
              <a:ext uri="{FF2B5EF4-FFF2-40B4-BE49-F238E27FC236}">
                <a16:creationId xmlns:a16="http://schemas.microsoft.com/office/drawing/2014/main" id="{13E04DC6-3881-C1F9-4EC5-490599792BA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005031" y="4620858"/>
            <a:ext cx="1905000" cy="1905000"/>
          </a:xfrm>
          <a:prstGeom prst="rect">
            <a:avLst/>
          </a:prstGeom>
        </p:spPr>
      </p:pic>
      <p:sp>
        <p:nvSpPr>
          <p:cNvPr id="35" name="正方形/長方形 34">
            <a:extLst>
              <a:ext uri="{FF2B5EF4-FFF2-40B4-BE49-F238E27FC236}">
                <a16:creationId xmlns:a16="http://schemas.microsoft.com/office/drawing/2014/main" id="{4E490E73-DA93-F993-0A8A-46B919B9C529}"/>
              </a:ext>
            </a:extLst>
          </p:cNvPr>
          <p:cNvSpPr/>
          <p:nvPr/>
        </p:nvSpPr>
        <p:spPr>
          <a:xfrm>
            <a:off x="221674" y="4136829"/>
            <a:ext cx="10149840" cy="265634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4CD0C7CD-E681-EA29-BFCA-D775CA117AC9}"/>
              </a:ext>
            </a:extLst>
          </p:cNvPr>
          <p:cNvSpPr txBox="1"/>
          <p:nvPr/>
        </p:nvSpPr>
        <p:spPr>
          <a:xfrm>
            <a:off x="1969465" y="3954809"/>
            <a:ext cx="1187264" cy="400110"/>
          </a:xfrm>
          <a:prstGeom prst="rect">
            <a:avLst/>
          </a:prstGeom>
          <a:solidFill>
            <a:schemeClr val="bg1"/>
          </a:solidFill>
        </p:spPr>
        <p:txBody>
          <a:bodyPr wrap="square" rtlCol="0">
            <a:spAutoFit/>
          </a:bodyPr>
          <a:lstStyle/>
          <a:p>
            <a:pPr algn="ctr"/>
            <a:r>
              <a:rPr lang="en-US" altLang="ja-JP" sz="2000" dirty="0">
                <a:latin typeface="Yu Gothic UI Semibold" panose="020B0700000000000000" pitchFamily="50" charset="-128"/>
                <a:ea typeface="Yu Gothic UI Semibold" panose="020B0700000000000000" pitchFamily="50" charset="-128"/>
              </a:rPr>
              <a:t>Output</a:t>
            </a:r>
          </a:p>
        </p:txBody>
      </p:sp>
      <p:sp>
        <p:nvSpPr>
          <p:cNvPr id="2" name="テキスト ボックス 1">
            <a:extLst>
              <a:ext uri="{FF2B5EF4-FFF2-40B4-BE49-F238E27FC236}">
                <a16:creationId xmlns:a16="http://schemas.microsoft.com/office/drawing/2014/main" id="{E4D6C61F-01B2-E021-2850-00E2F2A0C10B}"/>
              </a:ext>
            </a:extLst>
          </p:cNvPr>
          <p:cNvSpPr txBox="1"/>
          <p:nvPr/>
        </p:nvSpPr>
        <p:spPr>
          <a:xfrm>
            <a:off x="833457" y="6465049"/>
            <a:ext cx="1187264" cy="369332"/>
          </a:xfrm>
          <a:prstGeom prst="rect">
            <a:avLst/>
          </a:prstGeom>
          <a:noFill/>
        </p:spPr>
        <p:txBody>
          <a:bodyPr wrap="square" rtlCol="0">
            <a:spAutoFit/>
          </a:bodyPr>
          <a:lstStyle/>
          <a:p>
            <a:pPr algn="ctr"/>
            <a:r>
              <a:rPr lang="en-US" altLang="ja-JP" dirty="0">
                <a:latin typeface="Yu Gothic UI Semibold" panose="020B0700000000000000" pitchFamily="50" charset="-128"/>
                <a:ea typeface="Yu Gothic UI Semibold" panose="020B0700000000000000" pitchFamily="50" charset="-128"/>
              </a:rPr>
              <a:t>1</a:t>
            </a:r>
          </a:p>
        </p:txBody>
      </p:sp>
      <p:sp>
        <p:nvSpPr>
          <p:cNvPr id="12" name="テキスト ボックス 11">
            <a:extLst>
              <a:ext uri="{FF2B5EF4-FFF2-40B4-BE49-F238E27FC236}">
                <a16:creationId xmlns:a16="http://schemas.microsoft.com/office/drawing/2014/main" id="{A0B6E3BB-157C-7468-8F04-61CC76438005}"/>
              </a:ext>
            </a:extLst>
          </p:cNvPr>
          <p:cNvSpPr txBox="1"/>
          <p:nvPr/>
        </p:nvSpPr>
        <p:spPr>
          <a:xfrm>
            <a:off x="3384147" y="6467735"/>
            <a:ext cx="1187264" cy="369332"/>
          </a:xfrm>
          <a:prstGeom prst="rect">
            <a:avLst/>
          </a:prstGeom>
          <a:noFill/>
        </p:spPr>
        <p:txBody>
          <a:bodyPr wrap="square" rtlCol="0">
            <a:spAutoFit/>
          </a:bodyPr>
          <a:lstStyle/>
          <a:p>
            <a:pPr algn="ctr"/>
            <a:r>
              <a:rPr lang="en-US" altLang="ja-JP" dirty="0">
                <a:latin typeface="Yu Gothic UI Semibold" panose="020B0700000000000000" pitchFamily="50" charset="-128"/>
                <a:ea typeface="Yu Gothic UI Semibold" panose="020B0700000000000000" pitchFamily="50" charset="-128"/>
              </a:rPr>
              <a:t>2</a:t>
            </a:r>
          </a:p>
        </p:txBody>
      </p:sp>
      <p:sp>
        <p:nvSpPr>
          <p:cNvPr id="13" name="テキスト ボックス 12">
            <a:extLst>
              <a:ext uri="{FF2B5EF4-FFF2-40B4-BE49-F238E27FC236}">
                <a16:creationId xmlns:a16="http://schemas.microsoft.com/office/drawing/2014/main" id="{4989D428-EBC6-FAAA-6C6D-1E434DAF20A5}"/>
              </a:ext>
            </a:extLst>
          </p:cNvPr>
          <p:cNvSpPr txBox="1"/>
          <p:nvPr/>
        </p:nvSpPr>
        <p:spPr>
          <a:xfrm>
            <a:off x="6038073" y="6478094"/>
            <a:ext cx="1187264" cy="369332"/>
          </a:xfrm>
          <a:prstGeom prst="rect">
            <a:avLst/>
          </a:prstGeom>
          <a:noFill/>
        </p:spPr>
        <p:txBody>
          <a:bodyPr wrap="square" rtlCol="0">
            <a:spAutoFit/>
          </a:bodyPr>
          <a:lstStyle/>
          <a:p>
            <a:pPr algn="ctr"/>
            <a:r>
              <a:rPr lang="en-US" altLang="ja-JP" dirty="0">
                <a:latin typeface="Yu Gothic UI Semibold" panose="020B0700000000000000" pitchFamily="50" charset="-128"/>
                <a:ea typeface="Yu Gothic UI Semibold" panose="020B0700000000000000" pitchFamily="50" charset="-128"/>
              </a:rPr>
              <a:t>3</a:t>
            </a:r>
          </a:p>
        </p:txBody>
      </p:sp>
      <p:sp>
        <p:nvSpPr>
          <p:cNvPr id="17" name="テキスト ボックス 16">
            <a:extLst>
              <a:ext uri="{FF2B5EF4-FFF2-40B4-BE49-F238E27FC236}">
                <a16:creationId xmlns:a16="http://schemas.microsoft.com/office/drawing/2014/main" id="{19699454-02BD-6B8C-01BD-17B7E91B45D1}"/>
              </a:ext>
            </a:extLst>
          </p:cNvPr>
          <p:cNvSpPr txBox="1"/>
          <p:nvPr/>
        </p:nvSpPr>
        <p:spPr>
          <a:xfrm>
            <a:off x="8577463" y="6459696"/>
            <a:ext cx="1187264" cy="369332"/>
          </a:xfrm>
          <a:prstGeom prst="rect">
            <a:avLst/>
          </a:prstGeom>
          <a:noFill/>
        </p:spPr>
        <p:txBody>
          <a:bodyPr wrap="square" rtlCol="0">
            <a:spAutoFit/>
          </a:bodyPr>
          <a:lstStyle/>
          <a:p>
            <a:pPr algn="ctr"/>
            <a:r>
              <a:rPr lang="en-US" altLang="ja-JP" dirty="0">
                <a:latin typeface="Yu Gothic UI Semibold" panose="020B0700000000000000" pitchFamily="50" charset="-128"/>
                <a:ea typeface="Yu Gothic UI Semibold" panose="020B0700000000000000" pitchFamily="50" charset="-128"/>
              </a:rPr>
              <a:t>4</a:t>
            </a:r>
          </a:p>
        </p:txBody>
      </p:sp>
      <p:pic>
        <p:nvPicPr>
          <p:cNvPr id="14" name="図 13">
            <a:extLst>
              <a:ext uri="{FF2B5EF4-FFF2-40B4-BE49-F238E27FC236}">
                <a16:creationId xmlns:a16="http://schemas.microsoft.com/office/drawing/2014/main" id="{B31D6E3A-9C08-334C-90B5-E2E5CAAB42B1}"/>
              </a:ext>
            </a:extLst>
          </p:cNvPr>
          <p:cNvPicPr>
            <a:picLocks noChangeAspect="1"/>
          </p:cNvPicPr>
          <p:nvPr/>
        </p:nvPicPr>
        <p:blipFill>
          <a:blip r:embed="rId9"/>
          <a:stretch>
            <a:fillRect/>
          </a:stretch>
        </p:blipFill>
        <p:spPr>
          <a:xfrm>
            <a:off x="5503552" y="2094118"/>
            <a:ext cx="6415623" cy="1637797"/>
          </a:xfrm>
          <a:prstGeom prst="rect">
            <a:avLst/>
          </a:prstGeom>
          <a:solidFill>
            <a:schemeClr val="bg1"/>
          </a:solidFill>
        </p:spPr>
      </p:pic>
    </p:spTree>
    <p:extLst>
      <p:ext uri="{BB962C8B-B14F-4D97-AF65-F5344CB8AC3E}">
        <p14:creationId xmlns:p14="http://schemas.microsoft.com/office/powerpoint/2010/main" val="1486255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87B170C7-E09C-469C-81DC-BD4D78433109}"/>
              </a:ext>
            </a:extLst>
          </p:cNvPr>
          <p:cNvSpPr txBox="1"/>
          <p:nvPr/>
        </p:nvSpPr>
        <p:spPr>
          <a:xfrm>
            <a:off x="0" y="0"/>
            <a:ext cx="7342909" cy="369332"/>
          </a:xfrm>
          <a:prstGeom prst="rect">
            <a:avLst/>
          </a:prstGeom>
          <a:noFill/>
        </p:spPr>
        <p:txBody>
          <a:bodyPr wrap="square" rtlCol="0">
            <a:spAutoFit/>
          </a:bodyPr>
          <a:lstStyle/>
          <a:p>
            <a:pPr algn="ctr"/>
            <a:r>
              <a:rPr lang="en-US" altLang="ja-JP" dirty="0">
                <a:latin typeface="Yu Gothic UI Semibold" panose="020B0700000000000000" pitchFamily="50" charset="-128"/>
                <a:ea typeface="Yu Gothic UI Semibold" panose="020B0700000000000000" pitchFamily="50" charset="-128"/>
              </a:rPr>
              <a:t> </a:t>
            </a:r>
            <a:endParaRPr lang="ja-JP" altLang="en-US" dirty="0">
              <a:latin typeface="Yu Gothic UI Semibold" panose="020B0700000000000000" pitchFamily="50" charset="-128"/>
              <a:ea typeface="Yu Gothic UI Semibold" panose="020B0700000000000000" pitchFamily="50" charset="-128"/>
            </a:endParaRPr>
          </a:p>
        </p:txBody>
      </p:sp>
      <p:sp>
        <p:nvSpPr>
          <p:cNvPr id="8" name="テキスト ボックス 7">
            <a:extLst>
              <a:ext uri="{FF2B5EF4-FFF2-40B4-BE49-F238E27FC236}">
                <a16:creationId xmlns:a16="http://schemas.microsoft.com/office/drawing/2014/main" id="{ED296AF3-7FD0-4FE3-A3F4-EE192EC95312}"/>
              </a:ext>
            </a:extLst>
          </p:cNvPr>
          <p:cNvSpPr txBox="1"/>
          <p:nvPr/>
        </p:nvSpPr>
        <p:spPr>
          <a:xfrm>
            <a:off x="221674" y="261443"/>
            <a:ext cx="10498878" cy="769441"/>
          </a:xfrm>
          <a:prstGeom prst="rect">
            <a:avLst/>
          </a:prstGeom>
          <a:noFill/>
        </p:spPr>
        <p:txBody>
          <a:bodyPr wrap="square" rtlCol="0">
            <a:spAutoFit/>
          </a:bodyPr>
          <a:lstStyle/>
          <a:p>
            <a:r>
              <a:rPr lang="en-US" altLang="ja-JP" sz="4400" dirty="0">
                <a:solidFill>
                  <a:schemeClr val="bg1"/>
                </a:solidFill>
                <a:latin typeface="Yu Gothic UI Semibold" panose="020B0700000000000000" pitchFamily="50" charset="-128"/>
                <a:ea typeface="Yu Gothic UI Semibold" panose="020B0700000000000000" pitchFamily="50" charset="-128"/>
              </a:rPr>
              <a:t>Future Work</a:t>
            </a:r>
          </a:p>
        </p:txBody>
      </p:sp>
      <p:sp>
        <p:nvSpPr>
          <p:cNvPr id="16" name="スライド番号プレースホルダー 17">
            <a:extLst>
              <a:ext uri="{FF2B5EF4-FFF2-40B4-BE49-F238E27FC236}">
                <a16:creationId xmlns:a16="http://schemas.microsoft.com/office/drawing/2014/main" id="{A67717DF-2DA1-7FF0-C21D-F0639AC96181}"/>
              </a:ext>
            </a:extLst>
          </p:cNvPr>
          <p:cNvSpPr>
            <a:spLocks noGrp="1"/>
          </p:cNvSpPr>
          <p:nvPr>
            <p:ph type="sldNum" sz="quarter" idx="12"/>
          </p:nvPr>
        </p:nvSpPr>
        <p:spPr>
          <a:xfrm>
            <a:off x="8610600" y="6356354"/>
            <a:ext cx="2743200" cy="365125"/>
          </a:xfrm>
        </p:spPr>
        <p:txBody>
          <a:bodyPr/>
          <a:lstStyle/>
          <a:p>
            <a:fld id="{86DB81D5-40F9-4C3D-9CD4-6800D23EE77D}" type="slidenum">
              <a:rPr kumimoji="1" lang="ja-JP" altLang="en-US" smtClean="0">
                <a:latin typeface="Yu Gothic UI Semibold" panose="020B0700000000000000" pitchFamily="50" charset="-128"/>
                <a:ea typeface="Yu Gothic UI Semibold" panose="020B0700000000000000" pitchFamily="50" charset="-128"/>
              </a:rPr>
              <a:t>9</a:t>
            </a:fld>
            <a:endParaRPr kumimoji="1" lang="ja-JP" altLang="en-US" dirty="0">
              <a:latin typeface="Yu Gothic UI Semibold" panose="020B0700000000000000" pitchFamily="50" charset="-128"/>
              <a:ea typeface="Yu Gothic UI Semibold" panose="020B0700000000000000" pitchFamily="50" charset="-128"/>
            </a:endParaRPr>
          </a:p>
        </p:txBody>
      </p:sp>
      <p:sp>
        <p:nvSpPr>
          <p:cNvPr id="3" name="テキスト ボックス 2">
            <a:extLst>
              <a:ext uri="{FF2B5EF4-FFF2-40B4-BE49-F238E27FC236}">
                <a16:creationId xmlns:a16="http://schemas.microsoft.com/office/drawing/2014/main" id="{A5249450-8F0B-D438-66D9-2019FE666FF5}"/>
              </a:ext>
            </a:extLst>
          </p:cNvPr>
          <p:cNvSpPr txBox="1"/>
          <p:nvPr/>
        </p:nvSpPr>
        <p:spPr>
          <a:xfrm>
            <a:off x="550605" y="2047852"/>
            <a:ext cx="7659329" cy="3131627"/>
          </a:xfrm>
          <a:prstGeom prst="rect">
            <a:avLst/>
          </a:prstGeom>
          <a:noFill/>
        </p:spPr>
        <p:txBody>
          <a:bodyPr wrap="square">
            <a:spAutoFit/>
          </a:bodyPr>
          <a:lstStyle/>
          <a:p>
            <a:r>
              <a:rPr lang="en-US" altLang="ja-JP" sz="2400" b="1" dirty="0">
                <a:latin typeface="Yu Gothic UI Semibold" panose="020B0700000000000000" pitchFamily="50" charset="-128"/>
                <a:ea typeface="Yu Gothic UI Semibold" panose="020B0700000000000000" pitchFamily="50" charset="-128"/>
              </a:rPr>
              <a:t>Dataset Expansion</a:t>
            </a:r>
          </a:p>
          <a:p>
            <a:endParaRPr lang="en-US" altLang="ja-JP" sz="800" dirty="0">
              <a:latin typeface="Yu Gothic UI Semibold" panose="020B0700000000000000" pitchFamily="50" charset="-128"/>
              <a:ea typeface="Yu Gothic UI Semibold" panose="020B0700000000000000" pitchFamily="50" charset="-128"/>
            </a:endParaRPr>
          </a:p>
          <a:p>
            <a:pPr>
              <a:buFont typeface="Arial" panose="020B0604020202020204" pitchFamily="34" charset="0"/>
              <a:buChar char="•"/>
            </a:pPr>
            <a:r>
              <a:rPr lang="en-US" altLang="ja-JP" sz="2000" dirty="0">
                <a:latin typeface="Yu Gothic UI Semibold" panose="020B0700000000000000" pitchFamily="50" charset="-128"/>
                <a:ea typeface="Yu Gothic UI Semibold" panose="020B0700000000000000" pitchFamily="50" charset="-128"/>
              </a:rPr>
              <a:t>increase the number of pixel art of people.</a:t>
            </a:r>
          </a:p>
          <a:p>
            <a:pPr>
              <a:buFont typeface="Arial" panose="020B0604020202020204" pitchFamily="34" charset="0"/>
              <a:buChar char="•"/>
            </a:pPr>
            <a:r>
              <a:rPr lang="en-US" altLang="ja-JP" sz="2000" dirty="0">
                <a:latin typeface="Yu Gothic UI Semibold" panose="020B0700000000000000" pitchFamily="50" charset="-128"/>
                <a:ea typeface="Yu Gothic UI Semibold" panose="020B0700000000000000" pitchFamily="50" charset="-128"/>
              </a:rPr>
              <a:t>expand to other types of pixel art.</a:t>
            </a:r>
          </a:p>
          <a:p>
            <a:endParaRPr lang="en-US" altLang="ja-JP" sz="1050" dirty="0">
              <a:latin typeface="Yu Gothic UI Semibold" panose="020B0700000000000000" pitchFamily="50" charset="-128"/>
              <a:ea typeface="Yu Gothic UI Semibold" panose="020B0700000000000000" pitchFamily="50" charset="-128"/>
            </a:endParaRPr>
          </a:p>
          <a:p>
            <a:endParaRPr lang="en-US" altLang="ja-JP" sz="1050" dirty="0">
              <a:latin typeface="Yu Gothic UI Semibold" panose="020B0700000000000000" pitchFamily="50" charset="-128"/>
              <a:ea typeface="Yu Gothic UI Semibold" panose="020B0700000000000000" pitchFamily="50" charset="-128"/>
            </a:endParaRPr>
          </a:p>
          <a:p>
            <a:endParaRPr lang="en-US" altLang="ja-JP" sz="1050" dirty="0">
              <a:latin typeface="Yu Gothic UI Semibold" panose="020B0700000000000000" pitchFamily="50" charset="-128"/>
              <a:ea typeface="Yu Gothic UI Semibold" panose="020B0700000000000000" pitchFamily="50" charset="-128"/>
            </a:endParaRPr>
          </a:p>
          <a:p>
            <a:r>
              <a:rPr lang="en-US" altLang="ja-JP" sz="2400" dirty="0">
                <a:latin typeface="Yu Gothic UI Semibold" panose="020B0700000000000000" pitchFamily="50" charset="-128"/>
                <a:ea typeface="Yu Gothic UI Semibold" panose="020B0700000000000000" pitchFamily="50" charset="-128"/>
              </a:rPr>
              <a:t>Model Parameter Optimization</a:t>
            </a:r>
          </a:p>
          <a:p>
            <a:endParaRPr lang="en-US" altLang="ja-JP" sz="900" dirty="0">
              <a:latin typeface="Yu Gothic UI Semibold" panose="020B0700000000000000" pitchFamily="50" charset="-128"/>
              <a:ea typeface="Yu Gothic UI Semibold" panose="020B0700000000000000" pitchFamily="50" charset="-128"/>
            </a:endParaRPr>
          </a:p>
          <a:p>
            <a:pPr>
              <a:buFont typeface="Arial" panose="020B0604020202020204" pitchFamily="34" charset="0"/>
              <a:buChar char="•"/>
            </a:pPr>
            <a:r>
              <a:rPr lang="en-US" altLang="ja-JP" sz="2000" dirty="0">
                <a:latin typeface="Yu Gothic UI Semibold" panose="020B0700000000000000" pitchFamily="50" charset="-128"/>
                <a:ea typeface="Yu Gothic UI Semibold" panose="020B0700000000000000" pitchFamily="50" charset="-128"/>
              </a:rPr>
              <a:t>Vision Transformer for Denoise Network</a:t>
            </a:r>
          </a:p>
          <a:p>
            <a:endParaRPr lang="en-US" altLang="ja-JP" sz="1800" dirty="0">
              <a:latin typeface="Yu Gothic UI Semibold" panose="020B0700000000000000" pitchFamily="50" charset="-128"/>
              <a:ea typeface="Yu Gothic UI Semibold" panose="020B0700000000000000" pitchFamily="50" charset="-128"/>
            </a:endParaRPr>
          </a:p>
          <a:p>
            <a:endParaRPr lang="en-US" altLang="ja-JP" sz="1800" dirty="0">
              <a:latin typeface="Yu Gothic UI Semibold" panose="020B0700000000000000" pitchFamily="50" charset="-128"/>
              <a:ea typeface="Yu Gothic UI Semibold" panose="020B0700000000000000" pitchFamily="50" charset="-128"/>
            </a:endParaRPr>
          </a:p>
        </p:txBody>
      </p:sp>
    </p:spTree>
    <p:extLst>
      <p:ext uri="{BB962C8B-B14F-4D97-AF65-F5344CB8AC3E}">
        <p14:creationId xmlns:p14="http://schemas.microsoft.com/office/powerpoint/2010/main" val="309691335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4408</TotalTime>
  <Words>547</Words>
  <Application>Microsoft Office PowerPoint</Application>
  <PresentationFormat>ワイド画面</PresentationFormat>
  <Paragraphs>132</Paragraphs>
  <Slides>10</Slides>
  <Notes>10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10</vt:i4>
      </vt:variant>
    </vt:vector>
  </HeadingPairs>
  <TitlesOfParts>
    <vt:vector size="16" baseType="lpstr">
      <vt:lpstr>Yu Gothic UI Semibold</vt:lpstr>
      <vt:lpstr>游ゴシック</vt:lpstr>
      <vt:lpstr>游ゴシック Light</vt:lpstr>
      <vt:lpstr>Arial</vt:lpstr>
      <vt:lpstr>Cambria Math</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中嶋 悠斗_舞鶴ES学生</dc:creator>
  <cp:lastModifiedBy>中嶋　悠斗</cp:lastModifiedBy>
  <cp:revision>108</cp:revision>
  <dcterms:created xsi:type="dcterms:W3CDTF">2023-08-22T03:00:12Z</dcterms:created>
  <dcterms:modified xsi:type="dcterms:W3CDTF">2024-08-01T06:18:42Z</dcterms:modified>
</cp:coreProperties>
</file>